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089b23b67e4536" /><Relationship Type="http://schemas.openxmlformats.org/officeDocument/2006/relationships/extended-properties" Target="/docProps/app.xml" Id="Rc1be18fad4e54cee" /><Relationship Type="http://schemas.openxmlformats.org/officeDocument/2006/relationships/officeDocument" Target="/ppt/presentation.xml" Id="R6f13f650650e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21177e4ba4540"/>
  </p:sldMasterIdLst>
  <p:notesMasterIdLst>
    <p:notesMasterId xmlns:r="http://schemas.openxmlformats.org/officeDocument/2006/relationships" r:id="Rd10f24f90dbd43f5"/>
  </p:notesMasterIdLst>
  <p:sldIdLst>
    <p:sldId xmlns:r="http://schemas.openxmlformats.org/officeDocument/2006/relationships" id="256" r:id="Rbe58f2ad480340b5"/>
    <p:sldId xmlns:r="http://schemas.openxmlformats.org/officeDocument/2006/relationships" id="257" r:id="R1a03e1d9d8f14c27"/>
    <p:sldId xmlns:r="http://schemas.openxmlformats.org/officeDocument/2006/relationships" id="258" r:id="Re4fa966e1ed34b08"/>
    <p:sldId xmlns:r="http://schemas.openxmlformats.org/officeDocument/2006/relationships" id="259" r:id="R6ad6cb55a7bd433a"/>
    <p:sldId xmlns:r="http://schemas.openxmlformats.org/officeDocument/2006/relationships" id="260" r:id="Re36701791eec40a7"/>
    <p:sldId xmlns:r="http://schemas.openxmlformats.org/officeDocument/2006/relationships" id="261" r:id="Rd3ee7272197e42a0"/>
    <p:sldId xmlns:r="http://schemas.openxmlformats.org/officeDocument/2006/relationships" id="262" r:id="R3bb1a365563f4de0"/>
    <p:sldId xmlns:r="http://schemas.openxmlformats.org/officeDocument/2006/relationships" id="263" r:id="Rf3ced59c02b54653"/>
    <p:sldId xmlns:r="http://schemas.openxmlformats.org/officeDocument/2006/relationships" id="264" r:id="R24789224f9d14235"/>
    <p:sldId xmlns:r="http://schemas.openxmlformats.org/officeDocument/2006/relationships" id="265" r:id="Rda195c1c04c14001"/>
    <p:sldId xmlns:r="http://schemas.openxmlformats.org/officeDocument/2006/relationships" id="266" r:id="R55ca48680da54410"/>
    <p:sldId xmlns:r="http://schemas.openxmlformats.org/officeDocument/2006/relationships" id="267" r:id="Racc0e5a3039743e7"/>
    <p:sldId xmlns:r="http://schemas.openxmlformats.org/officeDocument/2006/relationships" id="268" r:id="R1f71511d993d4d7b"/>
    <p:sldId xmlns:r="http://schemas.openxmlformats.org/officeDocument/2006/relationships" id="269" r:id="R293b6418871847a9"/>
    <p:sldId xmlns:r="http://schemas.openxmlformats.org/officeDocument/2006/relationships" id="270" r:id="R0a02c92900ca491f"/>
    <p:sldId xmlns:r="http://schemas.openxmlformats.org/officeDocument/2006/relationships" id="271" r:id="R481af052a0f24574"/>
    <p:sldId xmlns:r="http://schemas.openxmlformats.org/officeDocument/2006/relationships" id="272" r:id="R7c4fee14b2004b6c"/>
    <p:sldId xmlns:r="http://schemas.openxmlformats.org/officeDocument/2006/relationships" id="273" r:id="R04ea1d7981cb41ae"/>
    <p:sldId xmlns:r="http://schemas.openxmlformats.org/officeDocument/2006/relationships" id="274" r:id="R3e1dbe95810f48e1"/>
    <p:sldId xmlns:r="http://schemas.openxmlformats.org/officeDocument/2006/relationships" id="275" r:id="Rfe341931ac5c4c19"/>
    <p:sldId xmlns:r="http://schemas.openxmlformats.org/officeDocument/2006/relationships" id="276" r:id="Rc7badf5f9ca14793"/>
    <p:sldId xmlns:r="http://schemas.openxmlformats.org/officeDocument/2006/relationships" id="277" r:id="R3a82cdfff13b42c2"/>
    <p:sldId xmlns:r="http://schemas.openxmlformats.org/officeDocument/2006/relationships" id="278" r:id="R043b4bfd6d514e6e"/>
    <p:sldId xmlns:r="http://schemas.openxmlformats.org/officeDocument/2006/relationships" id="279" r:id="Rb5047aef86eb456b"/>
    <p:sldId xmlns:r="http://schemas.openxmlformats.org/officeDocument/2006/relationships" id="280" r:id="R953dfa10c7f440a7"/>
    <p:sldId xmlns:r="http://schemas.openxmlformats.org/officeDocument/2006/relationships" id="281" r:id="Rf74579f3dfe64d4b"/>
    <p:sldId xmlns:r="http://schemas.openxmlformats.org/officeDocument/2006/relationships" id="282" r:id="Rf181dc175cb94c1f"/>
    <p:sldId xmlns:r="http://schemas.openxmlformats.org/officeDocument/2006/relationships" id="283" r:id="Ra7befd535c6a4178"/>
    <p:sldId xmlns:r="http://schemas.openxmlformats.org/officeDocument/2006/relationships" id="284" r:id="R5467472755da430d"/>
    <p:sldId xmlns:r="http://schemas.openxmlformats.org/officeDocument/2006/relationships" id="285" r:id="R358259f6aa054e32"/>
    <p:sldId xmlns:r="http://schemas.openxmlformats.org/officeDocument/2006/relationships" id="286" r:id="R6b50c7329d184b08"/>
    <p:sldId xmlns:r="http://schemas.openxmlformats.org/officeDocument/2006/relationships" id="287" r:id="R315a2a86e0934a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d3f8bd6b14333" /><Relationship Type="http://schemas.openxmlformats.org/officeDocument/2006/relationships/slideMaster" Target="/ppt/slideMasters/slideMaster1.xml" Id="R84021177e4ba4540" /><Relationship Type="http://schemas.openxmlformats.org/officeDocument/2006/relationships/notesMaster" Target="/ppt/notesMasters/notesMaster1.xml" Id="Rd10f24f90dbd43f5" /><Relationship Type="http://schemas.openxmlformats.org/officeDocument/2006/relationships/presProps" Target="/ppt/presProps.xml" Id="R124151ba96eb4925" /><Relationship Type="http://schemas.openxmlformats.org/officeDocument/2006/relationships/tableStyles" Target="/ppt/tableStyles.xml" Id="Rbf173a896e844f55" /><Relationship Type="http://schemas.openxmlformats.org/officeDocument/2006/relationships/slide" Target="/ppt/slides/slide1.xml" Id="Rbe58f2ad480340b5" /><Relationship Type="http://schemas.openxmlformats.org/officeDocument/2006/relationships/slide" Target="/ppt/slides/slide2.xml" Id="R1a03e1d9d8f14c27" /><Relationship Type="http://schemas.openxmlformats.org/officeDocument/2006/relationships/slide" Target="/ppt/slides/slide3.xml" Id="Re4fa966e1ed34b08" /><Relationship Type="http://schemas.openxmlformats.org/officeDocument/2006/relationships/slide" Target="/ppt/slides/slide4.xml" Id="R6ad6cb55a7bd433a" /><Relationship Type="http://schemas.openxmlformats.org/officeDocument/2006/relationships/slide" Target="/ppt/slides/slide5.xml" Id="Re36701791eec40a7" /><Relationship Type="http://schemas.openxmlformats.org/officeDocument/2006/relationships/slide" Target="/ppt/slides/slide6.xml" Id="Rd3ee7272197e42a0" /><Relationship Type="http://schemas.openxmlformats.org/officeDocument/2006/relationships/slide" Target="/ppt/slides/slide7.xml" Id="R3bb1a365563f4de0" /><Relationship Type="http://schemas.openxmlformats.org/officeDocument/2006/relationships/slide" Target="/ppt/slides/slide8.xml" Id="Rf3ced59c02b54653" /><Relationship Type="http://schemas.openxmlformats.org/officeDocument/2006/relationships/slide" Target="/ppt/slides/slide9.xml" Id="R24789224f9d14235" /><Relationship Type="http://schemas.openxmlformats.org/officeDocument/2006/relationships/slide" Target="/ppt/slides/slide10.xml" Id="Rda195c1c04c14001" /><Relationship Type="http://schemas.openxmlformats.org/officeDocument/2006/relationships/slide" Target="/ppt/slides/slide11.xml" Id="R55ca48680da54410" /><Relationship Type="http://schemas.openxmlformats.org/officeDocument/2006/relationships/slide" Target="/ppt/slides/slide12.xml" Id="Racc0e5a3039743e7" /><Relationship Type="http://schemas.openxmlformats.org/officeDocument/2006/relationships/slide" Target="/ppt/slides/slide13.xml" Id="R1f71511d993d4d7b" /><Relationship Type="http://schemas.openxmlformats.org/officeDocument/2006/relationships/slide" Target="/ppt/slides/slide14.xml" Id="R293b6418871847a9" /><Relationship Type="http://schemas.openxmlformats.org/officeDocument/2006/relationships/slide" Target="/ppt/slides/slide15.xml" Id="R0a02c92900ca491f" /><Relationship Type="http://schemas.openxmlformats.org/officeDocument/2006/relationships/slide" Target="/ppt/slides/slide16.xml" Id="R481af052a0f24574" /><Relationship Type="http://schemas.openxmlformats.org/officeDocument/2006/relationships/slide" Target="/ppt/slides/slide17.xml" Id="R7c4fee14b2004b6c" /><Relationship Type="http://schemas.openxmlformats.org/officeDocument/2006/relationships/slide" Target="/ppt/slides/slide18.xml" Id="R04ea1d7981cb41ae" /><Relationship Type="http://schemas.openxmlformats.org/officeDocument/2006/relationships/slide" Target="/ppt/slides/slide19.xml" Id="R3e1dbe95810f48e1" /><Relationship Type="http://schemas.openxmlformats.org/officeDocument/2006/relationships/slide" Target="/ppt/slides/slide20.xml" Id="Rfe341931ac5c4c19" /><Relationship Type="http://schemas.openxmlformats.org/officeDocument/2006/relationships/slide" Target="/ppt/slides/slide21.xml" Id="Rc7badf5f9ca14793" /><Relationship Type="http://schemas.openxmlformats.org/officeDocument/2006/relationships/slide" Target="/ppt/slides/slide22.xml" Id="R3a82cdfff13b42c2" /><Relationship Type="http://schemas.openxmlformats.org/officeDocument/2006/relationships/slide" Target="/ppt/slides/slide23.xml" Id="R043b4bfd6d514e6e" /><Relationship Type="http://schemas.openxmlformats.org/officeDocument/2006/relationships/slide" Target="/ppt/slides/slide24.xml" Id="Rb5047aef86eb456b" /><Relationship Type="http://schemas.openxmlformats.org/officeDocument/2006/relationships/slide" Target="/ppt/slides/slide25.xml" Id="R953dfa10c7f440a7" /><Relationship Type="http://schemas.openxmlformats.org/officeDocument/2006/relationships/slide" Target="/ppt/slides/slide26.xml" Id="Rf74579f3dfe64d4b" /><Relationship Type="http://schemas.openxmlformats.org/officeDocument/2006/relationships/slide" Target="/ppt/slides/slide27.xml" Id="Rf181dc175cb94c1f" /><Relationship Type="http://schemas.openxmlformats.org/officeDocument/2006/relationships/slide" Target="/ppt/slides/slide28.xml" Id="Ra7befd535c6a4178" /><Relationship Type="http://schemas.openxmlformats.org/officeDocument/2006/relationships/slide" Target="/ppt/slides/slide29.xml" Id="R5467472755da430d" /><Relationship Type="http://schemas.openxmlformats.org/officeDocument/2006/relationships/slide" Target="/ppt/slides/slide30.xml" Id="R358259f6aa054e32" /><Relationship Type="http://schemas.openxmlformats.org/officeDocument/2006/relationships/slide" Target="/ppt/slides/slide31.xml" Id="R6b50c7329d184b08" /><Relationship Type="http://schemas.openxmlformats.org/officeDocument/2006/relationships/slide" Target="/ppt/slides/slide32.xml" Id="R315a2a86e093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5cac39fde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6bae527f04bd3" /><Relationship Type="http://schemas.openxmlformats.org/officeDocument/2006/relationships/notesMaster" Target="/ppt/notesMasters/notesMaster1.xml" Id="R2b87f32672e2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f097ae539471f" /><Relationship Type="http://schemas.openxmlformats.org/officeDocument/2006/relationships/notesMaster" Target="/ppt/notesMasters/notesMaster1.xml" Id="R40bd594376dd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81ad26b06349d4" /><Relationship Type="http://schemas.openxmlformats.org/officeDocument/2006/relationships/notesMaster" Target="/ppt/notesMasters/notesMaster1.xml" Id="Rbe4fcb2467de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07a1e51284178" /><Relationship Type="http://schemas.openxmlformats.org/officeDocument/2006/relationships/notesMaster" Target="/ppt/notesMasters/notesMaster1.xml" Id="R6aea659ef81a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88c0f5d654c8e" /><Relationship Type="http://schemas.openxmlformats.org/officeDocument/2006/relationships/notesMaster" Target="/ppt/notesMasters/notesMaster1.xml" Id="R51281c29d65742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3600ee190491c" /><Relationship Type="http://schemas.openxmlformats.org/officeDocument/2006/relationships/notesMaster" Target="/ppt/notesMasters/notesMaster1.xml" Id="R261889b9807845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743fd7d163494d" /><Relationship Type="http://schemas.openxmlformats.org/officeDocument/2006/relationships/notesMaster" Target="/ppt/notesMasters/notesMaster1.xml" Id="R48bd0cb8d9fe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e45799f95e4ad7" /><Relationship Type="http://schemas.openxmlformats.org/officeDocument/2006/relationships/notesMaster" Target="/ppt/notesMasters/notesMaster1.xml" Id="R35b0a2b445ed4e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01b6d176c749cd" /><Relationship Type="http://schemas.openxmlformats.org/officeDocument/2006/relationships/notesMaster" Target="/ppt/notesMasters/notesMaster1.xml" Id="R031a5643b38148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f5ac2563094967" /><Relationship Type="http://schemas.openxmlformats.org/officeDocument/2006/relationships/notesMaster" Target="/ppt/notesMasters/notesMaster1.xml" Id="Rfb213b9b481d47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8da3f52ae4383" /><Relationship Type="http://schemas.openxmlformats.org/officeDocument/2006/relationships/notesMaster" Target="/ppt/notesMasters/notesMaster1.xml" Id="Rb06b76b712c14e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79501c4fcf4f91" /><Relationship Type="http://schemas.openxmlformats.org/officeDocument/2006/relationships/notesMaster" Target="/ppt/notesMasters/notesMaster1.xml" Id="Rc7b379b0ca4d41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d63d73e6484e2d" /><Relationship Type="http://schemas.openxmlformats.org/officeDocument/2006/relationships/notesMaster" Target="/ppt/notesMasters/notesMaster1.xml" Id="Rae5355fab95846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0ecc1af7934989" /><Relationship Type="http://schemas.openxmlformats.org/officeDocument/2006/relationships/notesMaster" Target="/ppt/notesMasters/notesMaster1.xml" Id="Rd4826149ea5a4a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125ed02b7e4981" /><Relationship Type="http://schemas.openxmlformats.org/officeDocument/2006/relationships/notesMaster" Target="/ppt/notesMasters/notesMaster1.xml" Id="R38ba7c989e9d41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cd4a1b83f74553" /><Relationship Type="http://schemas.openxmlformats.org/officeDocument/2006/relationships/notesMaster" Target="/ppt/notesMasters/notesMaster1.xml" Id="R253c5bffe96a48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6cd79e2285431d" /><Relationship Type="http://schemas.openxmlformats.org/officeDocument/2006/relationships/notesMaster" Target="/ppt/notesMasters/notesMaster1.xml" Id="Raebb6d0a003944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b1bf407d3146ce" /><Relationship Type="http://schemas.openxmlformats.org/officeDocument/2006/relationships/notesMaster" Target="/ppt/notesMasters/notesMaster1.xml" Id="R0d0b0e1397a94d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df3aca521d43aa" /><Relationship Type="http://schemas.openxmlformats.org/officeDocument/2006/relationships/notesMaster" Target="/ppt/notesMasters/notesMaster1.xml" Id="R4f00e5213be94a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e2d61e393945d4" /><Relationship Type="http://schemas.openxmlformats.org/officeDocument/2006/relationships/notesMaster" Target="/ppt/notesMasters/notesMaster1.xml" Id="R791744932b1948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9167c45d3a449f" /><Relationship Type="http://schemas.openxmlformats.org/officeDocument/2006/relationships/notesMaster" Target="/ppt/notesMasters/notesMaster1.xml" Id="Rd199e2b782ab4f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017a0b319c4f32" /><Relationship Type="http://schemas.openxmlformats.org/officeDocument/2006/relationships/notesMaster" Target="/ppt/notesMasters/notesMaster1.xml" Id="R921aa12e689d40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b6246dbc7b47e9" /><Relationship Type="http://schemas.openxmlformats.org/officeDocument/2006/relationships/notesMaster" Target="/ppt/notesMasters/notesMaster1.xml" Id="R894e8bfbdf7243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4f26aa7a00454e" /><Relationship Type="http://schemas.openxmlformats.org/officeDocument/2006/relationships/notesMaster" Target="/ppt/notesMasters/notesMaster1.xml" Id="Rcfa8bd3688f645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8aa95b80404c6f" /><Relationship Type="http://schemas.openxmlformats.org/officeDocument/2006/relationships/notesMaster" Target="/ppt/notesMasters/notesMaster1.xml" Id="R161e480ec6734d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61259f232e4e59" /><Relationship Type="http://schemas.openxmlformats.org/officeDocument/2006/relationships/notesMaster" Target="/ppt/notesMasters/notesMaster1.xml" Id="Ra33006c5be1b48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7053462703432b" /><Relationship Type="http://schemas.openxmlformats.org/officeDocument/2006/relationships/notesMaster" Target="/ppt/notesMasters/notesMaster1.xml" Id="Rfbb27453e4f5462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9c79daaca3410e" /><Relationship Type="http://schemas.openxmlformats.org/officeDocument/2006/relationships/notesMaster" Target="/ppt/notesMasters/notesMaster1.xml" Id="Re04ba8a41e24459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2a442792b5450b" /><Relationship Type="http://schemas.openxmlformats.org/officeDocument/2006/relationships/notesMaster" Target="/ppt/notesMasters/notesMaster1.xml" Id="R94e1b7269afc4f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194129491424009" /><Relationship Type="http://schemas.openxmlformats.org/officeDocument/2006/relationships/notesMaster" Target="/ppt/notesMasters/notesMaster1.xml" Id="Rdbc2cd8807944a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9ec71c13f3444b" /><Relationship Type="http://schemas.openxmlformats.org/officeDocument/2006/relationships/notesMaster" Target="/ppt/notesMasters/notesMaster1.xml" Id="Rcd59422694a94af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3b7f16013047ef" /><Relationship Type="http://schemas.openxmlformats.org/officeDocument/2006/relationships/notesMaster" Target="/ppt/notesMasters/notesMaster1.xml" Id="R33a9f26fd603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사용자 제공 콘셉트 이미지. 가제·아트 목표이며 현재 게임 화면이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타겟과 유통 채널은 제안 가설.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참여자 실명·총인원·직군별 기여는 사용자 지시에 따라 회사 제출 전 확인 필요로 명시. 아래는 기여 확인 항목이며 현재 인력 배치 사실이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코드: unity/EungyeTaxi/Assets/Scripts/TaxiController.cs, DrivingCamera.cs, TaxiSignals.cs, DriveSession.cs.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상세 수치는 docs/content-design/03-life-and-economy.md의 시험 밸런스 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 가지: 차량 구매 &gt; 연비·연료 타입·트렁크·승차감·신차/중고·현금/할부, 정비 소모품·인테리어.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 가지: 단골·개인 예약 &gt; 재이용·선호·연락 동의·일정 충돌·약속 이행, 차량 내부 조작 &gt; 에어컨·창문·음악.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 가지: 비/눈·와이퍼·브레이크, 사고 현장·구급차/렉카·정체, 버스·운전 험한 차량·추가 법규 아이디어.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 가지: 경제·대출/카드·보험, 차량 구매·할부, 운전자·화장실/과식.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실명 캐릭터 및 장편 스토리는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이미지 원본을 아트 참고로 사용. 이미지 속 서울역·남산·강남은 은계 구현 공간과 다르며 게임 화면/기능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내장 image_gen 생성 예시. 사용자 콘셉트의 따뜻한 한국 도시 방향을 바탕으로 제작. 실제 은계 지도·현재 게임 화면이 아니며 실내 보행 구현을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내장 image_gen 생성 예시. 차량 구매·정비 후속 구상 시각화. 실제 게임 화면·확정 차종·완성 에셋이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레이아웃 정제는 제안 사항.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 BM·마케팅은 제안이며 승인/매출 전망이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아래 수치는 회사 심의를 위한 제안 목표. 실적/업계 기준이 아니며 표본 규모도 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마인드맵: docs/content-design/택시 시뮬레이션.mmst의 후속 구상. 제안서용 목표 설계이며 현재 미구현·개발 채택 및 수치 미확정. 기존 Proto 범위를 변경하지 않음. 아래 채택 순서는 제안이며 현재 게임 개발 지시/범위 변경이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핵심 6명+공유 인력, 1개 지역 우선의 일정 가정. 확정 일정 아님. M은 승인 후 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인원·기간·MM은 제안 가정. MM=인월. 회사 표준 단가·공유 인력·외주 금액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화면: artifacts/nav-tip-signs.png, 기존 개발 검사 캡처. 이번 제안서 작업 중 새 플레이를 수행한 화면이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최신 이력: docs/work-history/2026-10-27-nav-tip-drowsy-mindmap.md. 기존 검증 기록을 요약하며 이번 문서 작업에서 게임 테스트를 재실행하지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별도 문서: docs/proposals/project-b-prototype-manual-v1.md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페이지의 인력·기간·검증 게이트는 제안. 승인 여부는 회사 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eae4d9c3644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4e8fd4d9746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58c0e23b340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1c2e99bb148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c8496650b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340f434a9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86EEFC-9301-431F-9898-8F423698F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BE5030-19B7-44E2-87DB-CB287DB90F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129EFD-0C1F-48A5-91C9-02E2339EF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78F54-9337-4A3F-93F2-C4F941399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2CEDFE-CBA0-4BEF-B22F-3443BF764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E2CBA9-3377-4503-8FE9-0CE360DEE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433040-16BA-4BE8-8893-D042412175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EED6B8-FB66-4456-BBDD-743CF6893D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5BDE2-9F86-4A3A-BA29-7B14BD81B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11D9BC-744B-40F5-90FA-51BF8DDE44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d2d29a42c143e0" /><Relationship Type="http://schemas.openxmlformats.org/officeDocument/2006/relationships/slideLayout" Target="/ppt/slideLayouts/slideLayout1.xml" Id="Rbdff01853be9488b" /><Relationship Type="http://schemas.openxmlformats.org/officeDocument/2006/relationships/slideLayout" Target="/ppt/slideLayouts/slideLayout2.xml" Id="Rd018ebc1288f4902" /><Relationship Type="http://schemas.openxmlformats.org/officeDocument/2006/relationships/slideLayout" Target="/ppt/slideLayouts/slideLayout3.xml" Id="R614b5127bd9f42ca" /><Relationship Type="http://schemas.openxmlformats.org/officeDocument/2006/relationships/slideLayout" Target="/ppt/slideLayouts/slideLayout4.xml" Id="R751afe192bcf4361" /><Relationship Type="http://schemas.openxmlformats.org/officeDocument/2006/relationships/slideLayout" Target="/ppt/slideLayouts/slideLayout5.xml" Id="R6d059ae3f1de4bed" /><Relationship Type="http://schemas.openxmlformats.org/officeDocument/2006/relationships/slideLayout" Target="/ppt/slideLayouts/slideLayout6.xml" Id="R891e982b3deb4a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f01853be9488b"/>
    <p:sldLayoutId xmlns:r="http://schemas.openxmlformats.org/officeDocument/2006/relationships" id="2147483650" r:id="Rd018ebc1288f4902"/>
    <p:sldLayoutId xmlns:r="http://schemas.openxmlformats.org/officeDocument/2006/relationships" id="2147483651" r:id="R614b5127bd9f42ca"/>
    <p:sldLayoutId xmlns:r="http://schemas.openxmlformats.org/officeDocument/2006/relationships" id="2147483652" r:id="R751afe192bcf4361"/>
    <p:sldLayoutId xmlns:r="http://schemas.openxmlformats.org/officeDocument/2006/relationships" id="2147483653" r:id="R6d059ae3f1de4bed"/>
    <p:sldLayoutId xmlns:r="http://schemas.openxmlformats.org/officeDocument/2006/relationships" id="2147483654" r:id="R891e982b3deb4a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aa14078514a4a" /><Relationship Type="http://schemas.openxmlformats.org/officeDocument/2006/relationships/image" Target="/ppt/media/image.png" Id="R6fdef055cdc94f70" /><Relationship Type="http://schemas.openxmlformats.org/officeDocument/2006/relationships/notesSlide" Target="/ppt/notesSlides/notesSlide1.xml" Id="R65159eeefcff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661e680af45a0" /><Relationship Type="http://schemas.openxmlformats.org/officeDocument/2006/relationships/notesSlide" Target="/ppt/notesSlides/notesSlide2.xml" Id="R29e42cdb87fe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72cef6dbc4c47" /><Relationship Type="http://schemas.openxmlformats.org/officeDocument/2006/relationships/notesSlide" Target="/ppt/notesSlides/notesSlide3.xml" Id="R17bb1c36da69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114ec89d74f63" /><Relationship Type="http://schemas.openxmlformats.org/officeDocument/2006/relationships/notesSlide" Target="/ppt/notesSlides/notesSlide4.xml" Id="R69e982508d9e4c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898ab58ab4ed0" /><Relationship Type="http://schemas.openxmlformats.org/officeDocument/2006/relationships/notesSlide" Target="/ppt/notesSlides/notesSlide5.xml" Id="R987003bc3e01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395080743480c" /><Relationship Type="http://schemas.openxmlformats.org/officeDocument/2006/relationships/notesSlide" Target="/ppt/notesSlides/notesSlide6.xml" Id="Rc0ba0f83cf6844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12b9f35474cb8" /><Relationship Type="http://schemas.openxmlformats.org/officeDocument/2006/relationships/notesSlide" Target="/ppt/notesSlides/notesSlide7.xml" Id="R43dd531c93a944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2c0895abf4eb0" /><Relationship Type="http://schemas.openxmlformats.org/officeDocument/2006/relationships/notesSlide" Target="/ppt/notesSlides/notesSlide8.xml" Id="R295398f32f284c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5b156b62740ab" /><Relationship Type="http://schemas.openxmlformats.org/officeDocument/2006/relationships/notesSlide" Target="/ppt/notesSlides/notesSlide9.xml" Id="R587830b901af4d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0839fe7344461" /><Relationship Type="http://schemas.openxmlformats.org/officeDocument/2006/relationships/notesSlide" Target="/ppt/notesSlides/notesSlide10.xml" Id="Rab7a08af0f614e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c56f7a0424ce6" /><Relationship Type="http://schemas.openxmlformats.org/officeDocument/2006/relationships/notesSlide" Target="/ppt/notesSlides/notesSlide11.xml" Id="Rd2472d4e31d640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3c54b063a4c51" /><Relationship Type="http://schemas.openxmlformats.org/officeDocument/2006/relationships/notesSlide" Target="/ppt/notesSlides/notesSlide12.xml" Id="R3bd77307324041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19aaae6d94fbc" /><Relationship Type="http://schemas.openxmlformats.org/officeDocument/2006/relationships/notesSlide" Target="/ppt/notesSlides/notesSlide13.xml" Id="R46e1566aa20a45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ff329ecbb408f" /><Relationship Type="http://schemas.openxmlformats.org/officeDocument/2006/relationships/notesSlide" Target="/ppt/notesSlides/notesSlide14.xml" Id="R44904fc4712d4c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08bc008d64536" /><Relationship Type="http://schemas.openxmlformats.org/officeDocument/2006/relationships/notesSlide" Target="/ppt/notesSlides/notesSlide15.xml" Id="R144cf21a831944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3b58392a24ee4" /><Relationship Type="http://schemas.openxmlformats.org/officeDocument/2006/relationships/notesSlide" Target="/ppt/notesSlides/notesSlide16.xml" Id="R0e190cca9fd146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4e38737594770" /><Relationship Type="http://schemas.openxmlformats.org/officeDocument/2006/relationships/notesSlide" Target="/ppt/notesSlides/notesSlide17.xml" Id="R8a03d0aa6d1d49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13fc0b1744808" /><Relationship Type="http://schemas.openxmlformats.org/officeDocument/2006/relationships/image" Target="/ppt/media/image2.png" Id="R69275d920dab4dda" /><Relationship Type="http://schemas.openxmlformats.org/officeDocument/2006/relationships/notesSlide" Target="/ppt/notesSlides/notesSlide18.xml" Id="Rbf3c52762f4348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f718c04294069" /><Relationship Type="http://schemas.openxmlformats.org/officeDocument/2006/relationships/image" Target="/ppt/media/image3.png" Id="R427c56c3377b4f57" /><Relationship Type="http://schemas.openxmlformats.org/officeDocument/2006/relationships/notesSlide" Target="/ppt/notesSlides/notesSlide19.xml" Id="R7abc77d30a754b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2060155b543bc" /><Relationship Type="http://schemas.openxmlformats.org/officeDocument/2006/relationships/image" Target="/ppt/media/image4.png" Id="Re28476dcaed24ff7" /><Relationship Type="http://schemas.openxmlformats.org/officeDocument/2006/relationships/notesSlide" Target="/ppt/notesSlides/notesSlide20.xml" Id="Re99226611b5f40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4830fd6c8402c" /><Relationship Type="http://schemas.openxmlformats.org/officeDocument/2006/relationships/notesSlide" Target="/ppt/notesSlides/notesSlide21.xml" Id="Re96e0617168e48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02282a80e4a32" /><Relationship Type="http://schemas.openxmlformats.org/officeDocument/2006/relationships/notesSlide" Target="/ppt/notesSlides/notesSlide22.xml" Id="Ra4d4a1ff49eb40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79e6c43e4438b" /><Relationship Type="http://schemas.openxmlformats.org/officeDocument/2006/relationships/notesSlide" Target="/ppt/notesSlides/notesSlide23.xml" Id="R3dd481b8dd7341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f3f5906be4b6b" /><Relationship Type="http://schemas.openxmlformats.org/officeDocument/2006/relationships/notesSlide" Target="/ppt/notesSlides/notesSlide24.xml" Id="Rfed5e7684aad44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05140d535473b" /><Relationship Type="http://schemas.openxmlformats.org/officeDocument/2006/relationships/notesSlide" Target="/ppt/notesSlides/notesSlide25.xml" Id="R5d5b6ec2d97549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c5e70e8f649bb" /><Relationship Type="http://schemas.openxmlformats.org/officeDocument/2006/relationships/notesSlide" Target="/ppt/notesSlides/notesSlide26.xml" Id="R965daca309154f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075d8e359494d" /><Relationship Type="http://schemas.openxmlformats.org/officeDocument/2006/relationships/notesSlide" Target="/ppt/notesSlides/notesSlide27.xml" Id="R1a4c82838a6243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22ab74b364066" /><Relationship Type="http://schemas.openxmlformats.org/officeDocument/2006/relationships/notesSlide" Target="/ppt/notesSlides/notesSlide28.xml" Id="Ra28f5d2e579e46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3c5aee2254326" /><Relationship Type="http://schemas.openxmlformats.org/officeDocument/2006/relationships/image" Target="/ppt/media/image5.png" Id="Rd14892e269de4be5" /><Relationship Type="http://schemas.openxmlformats.org/officeDocument/2006/relationships/notesSlide" Target="/ppt/notesSlides/notesSlide29.xml" Id="R2b917ee01c9248f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2910f21b94377" /><Relationship Type="http://schemas.openxmlformats.org/officeDocument/2006/relationships/notesSlide" Target="/ppt/notesSlides/notesSlide30.xml" Id="R7c0a75305efc4e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43377dbdd480a" /><Relationship Type="http://schemas.openxmlformats.org/officeDocument/2006/relationships/notesSlide" Target="/ppt/notesSlides/notesSlide31.xml" Id="R1df373de1f0645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1c35dc5934f10" /><Relationship Type="http://schemas.openxmlformats.org/officeDocument/2006/relationships/notesSlide" Target="/ppt/notesSlides/notesSlide32.xml" Id="R3685b2049f2b44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A1334-6CB5-4B13-8458-9B54AFFA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오늘도 택시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BFF9F-B02D-42C9-874B-D0908F2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B2F53-12F7-4187-ADB4-76EDACEE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한국의 동네를 달리는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택시 생활 시뮬레이션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76088-9B88-4CD5-8DF7-5F92ABE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PROJECT-B  |  게임 개발 착수 제안</a:t>
            </a:r>
          </a:p>
          <a:p xmlns:a="http://schemas.openxmlformats.org/drawingml/2006/main">
            <a: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회사 내부 검토용 2차안 · 2026.10.27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9DB3F-8E7F-47DE-AF26-7E3C7BEAD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ef055cdc94f70"/>
          <a:stretch xmlns:a="http://schemas.openxmlformats.org/drawingml/2006/main"/>
        </p:blipFill>
        <p:spPr>
          <a:xfrm xmlns:a="http://schemas.openxmlformats.org/drawingml/2006/main">
            <a:off x="6286500" y="1384697"/>
            <a:ext cx="5286375" cy="396478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F9E28-6860-4A94-9814-AEBC9DE1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아트 방향 참고 · 현재 구현 화면 아님</a:t>
            </a:r>
          </a:p>
        </p:txBody>
      </p:sp>
    </p:spTree>
    <p:extLst>
      <p:ext uri="{BB962C8B-B14F-4D97-AF65-F5344CB8AC3E}">
        <p14:creationId xmlns:p14="http://schemas.microsoft.com/office/powerpoint/2010/main" val="1278573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51ABB-CB38-415B-A885-038C8FD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7E955-12E6-464F-BFC5-B5843651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CB02B-E975-4384-A859-65DD19A8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한국 동네에서 손님을 모시고 생활을 꾸리며,</a:t>
            </a:r>
          </a:p>
          <a:p xmlns:a="http://schemas.openxmlformats.org/drawingml/2006/main">
            <a: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나만의 택시와 영업 방식을 발전시키는 시뮬레이션.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AF621-F557-40F3-9343-783EA82BF656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게임명 / 장르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오늘도 택시(가제) / 운전 시뮬레이션 + 생활·영업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플랫폼 / 플레이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Windows 우선 · 싱글플레이 · 1인칭/3인칭 전환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타겟 가설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20~40대, 성별 제한 없음 · 운전·생활 시뮬레이션 선호층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 규모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Proto: 20분 × 3일 / 제품 목표: 차량·단골·장기 영업으로 확장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57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BC4EE-362C-4DC7-A25C-09C92DA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제안 참여 인원 및 기여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1D687-7EEB-4468-A9ED-49F2976B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889B0-6E8A-4F94-836D-F00F80FC410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333750"/>
                <a:gridCol w="42100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 / 인원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단계 기여 확인 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책임 / 기획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 콘셉트·범위·게임 규칙·승인 요청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프로그래밍 / 기술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프로토타입·기술 가능성·일정 추정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아트 / UI 방향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콘셉트·대표 장면·제작 공수 검토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/ QA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타겟·BM·비용·검증 설계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1F952-6D6E-4E07-8933-AD3B2A2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실제 제안 참여 인원과 향후 필요 개발 인력 6명은 별개. 총 참여 인원도 회사 제출 전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03448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9492B-CAFD-46C3-A001-6DE3D15F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핵심 재미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2601E-4408-4BF1-A125-0994054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53A4-0268-4053-A693-080C4ADF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 판단의 성취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DD372-759A-4DCF-B079-E57C595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신호·보행자·정체를 읽고 합법 경로를 선택한다.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안전하게 도착하는 과정 자체가 플레이가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8B026-39BF-4AAE-B045-AEED5D5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승객마다 다른 운행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100F5-779F-4CB7-B7A8-66CF35CC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차멀미, 정시 도착, 경유 등 요청에 대응한다.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수락한 약속은 실제 주행과 하차 결과로 평가된다.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5909E-9443-41CF-BB6E-11BAD427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나아지는 하루 운영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4A2E9-03B3-47A3-819F-11A5F497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공차와 생활비를 관리해 번 돈으로 다음 목표를 준비한다.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제품 목표: 단골을 늘리고 내 영업에 맞는 차량을 마련한다.</a:t>
            </a:r>
          </a:p>
        </p:txBody>
      </p:sp>
    </p:spTree>
    <p:extLst>
      <p:ext uri="{BB962C8B-B14F-4D97-AF65-F5344CB8AC3E}">
        <p14:creationId xmlns:p14="http://schemas.microsoft.com/office/powerpoint/2010/main" val="1828578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27D9D-2A3F-4DB3-B447-88F0FDB1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핵심 셀링 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3AF59-BF3D-4EEE-9A64-3711453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63E1B-555D-40FA-AED9-26E1016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한국 동네의 일상성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B552-F4E3-4D7E-9AE4-2B4A123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Taxi Life 대비, 바르셀로나 관광 도시 경험 대신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은계 기반 도로·한글 표지·생활시설에 집중하는 방향.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EAAA6-D2CE-4EE5-80AD-5C581FA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안전 운전과 승객 응대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0483B-ECA0-480C-A5AB-0156CF2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Crazy Taxi 대비, 과격한 시간 경쟁보다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안전한 운송과 약속 이행을 재미의 중심에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32C06-6D1B-4149-88AD-EA2F978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짧은 영업의 생활 전략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DAD4-7A6D-4403-8100-BE9626F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Euro Truck Simulator 2 대비, 장거리 화물 운송보다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동네 안의 짧은 운송·식사·휴식·청결 판단에 집중한다.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F2DFD-6E09-4563-983D-AD2BDF91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차별화 방향에 대한 제안이며, 경쟁 우위의 이용자 검증은 8주 단계에서 수행</a:t>
            </a:r>
          </a:p>
        </p:txBody>
      </p:sp>
    </p:spTree>
    <p:extLst>
      <p:ext uri="{BB962C8B-B14F-4D97-AF65-F5344CB8AC3E}">
        <p14:creationId xmlns:p14="http://schemas.microsoft.com/office/powerpoint/2010/main" val="1819043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3E976-D677-4D03-BA01-F2E13F2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완성될 게임: 나만의 택시 생활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E4789-67DB-4CD3-826D-ECD6368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E9232-AE2F-4F61-A86F-285BAE55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오늘의 운행이 내일의 차와 손님을 바꾸는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D741A-FF1D-4822-8C3B-CD7A2959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0B50D-1911-4212-BA15-681957BF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C81AD-6765-4203-B4FC-1AB36F7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운송 → 생활 → 재투자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C34BD-524B-43E5-A0AD-8C282F19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운임에서 주유·식사·관리비를 지출하고 남은 돈을 모은다.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차량 교체와 실내 구성으로 내가 맡을 운송을 넓힌다.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D927D-A3C6-435D-A01F-6CFF90F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관계 → 예약 → 영업 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1C043-BC3A-41BF-9A4A-04F25BB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좋은 운행이 단골 재이용으로 이어지고 예약 일정을 만든다.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약속과 자유 호출 사이에서 하루를 스스로 설계한다.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40579-2D04-485B-8D55-71DF35F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현재: 운송·생활·장부 / 제품 목표 제안: 차량 구매·정비·단골·예약·장기 운영</a:t>
            </a:r>
          </a:p>
        </p:txBody>
      </p:sp>
    </p:spTree>
    <p:extLst>
      <p:ext uri="{BB962C8B-B14F-4D97-AF65-F5344CB8AC3E}">
        <p14:creationId xmlns:p14="http://schemas.microsoft.com/office/powerpoint/2010/main" val="1369232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DA3CD-CF21-4A8D-A618-068DBD4D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B8E03-592A-4F5D-A20A-C401AA32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13DDB-6E83-4D2B-97ED-833F2F1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호출 선택  →  승차  →  운전·응대  →  하차·운임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4D8C0-4AA8-45A5-809C-71550A2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다음 운송 또는 생활시설  →  하루 정산  →  다음 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6CDC5-C5D2-4F0C-B69A-0AF9C7E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운행 중 선택: 빠른 길 / 짧은 길 · 요청 수락 / 안전한 보류</a:t>
            </a:r>
          </a:p>
          <a:p xmlns:a="http://schemas.openxmlformats.org/drawingml/2006/main">
            <a: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운행 후 선택: 다시 영업 / 주유·식사·수면·세차 / 마감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C027-7C49-4EEF-967E-2090BC40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 캠페인: 3일 × 예정 20분. 20분 도달 시 즉시 정산되지 않으며 초과 영업과 피로가 연결됨</a:t>
            </a:r>
          </a:p>
        </p:txBody>
      </p:sp>
    </p:spTree>
    <p:extLst>
      <p:ext uri="{BB962C8B-B14F-4D97-AF65-F5344CB8AC3E}">
        <p14:creationId xmlns:p14="http://schemas.microsoft.com/office/powerpoint/2010/main" val="1314652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85EF7-8589-4C1E-AF8B-6E9039A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플레이 예시: 오늘 하루의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A351D-5BFE-4632-9D4A-3AB5150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E9B8E-8421-4C32-A661-7A7658EFAD80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38625"/>
                <a:gridCol w="454342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플레이에 생기는 변화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시작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주거·업무 지역 수요와 호출 거리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공차 비용을 고려해 첫 손님 선택 [현재]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운행 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차멀미 손님에게 부드러운 운전 약속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주행 방식과 만족도·운임 연결 [현재]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운행 사이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식사·주유·휴식 중 먼저 할 일 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영업시간과 컨디션 변화 [현재]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영업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단골 예약 전에 차량 정비 계획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약속·정비비·호출 기회 비교 [목표]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하루 마감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순수익 확인 후 차량 구입 자금 적립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차를 목표로 다시 영업 [목표]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270B6-FA01-4A84-8EB2-19DB129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플레이 흐름 설명용 예시. [현재]는 구현 기반, [목표]는 마인드맵을 구체화한 미구현 제안</a:t>
            </a:r>
          </a:p>
        </p:txBody>
      </p:sp>
    </p:spTree>
    <p:extLst>
      <p:ext uri="{BB962C8B-B14F-4D97-AF65-F5344CB8AC3E}">
        <p14:creationId xmlns:p14="http://schemas.microsoft.com/office/powerpoint/2010/main" val="1371163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30058-7BAC-4769-AA46-29F0D8D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조작과 플레이 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8D31A-76BB-4329-BD0E-7480F99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7E363-6FB1-4C93-BF26-742F24F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직접 운전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E5A6-67AB-49CB-A23E-99A2AFB4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W/S 또는 ↑/↓: 전진·후진 입력, A/D 또는 ←/→: 조향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Space: 제동 · Q/E: 방향지시등 · C: 1/3인칭 전환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590D2-A8EA-4469-90AA-049066B3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보조와 상호작용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D21A-24A6-4F56-B39F-19A2AD7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H: 조향 보조 · F: 승차·경유·하차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보조 중에도 가감속·정지·양보는 플레이어가 수행.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00D4-90CB-4FAE-97A1-9242DBD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지도와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D0EB-36FE-4E5F-9CDC-EC8DC86E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M: 전체지도·호출 · F7: 정차 시설 메뉴 · F8: 상세 기록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키보드/패드 입력 구현. 실물 패드 검증은 별도 필요.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E711F-7C32-41B0-92AD-BCE9E0F5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첨부 이미지의 터치 페달은 아트 참고 요소이며, 모바일 개발은 이번 착수 범위에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279622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0687-524B-422C-AC87-07A316DF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시스템: 운송과 교통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95E8-1588-4ECD-867B-8D72208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7F432-A1DC-4F45-A62B-E27A20B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호출·수요·공차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3B432-834F-4554-9F15-8277ABA7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출발·도착·예상 운임을 비교하고 호출을 수락.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지역 상대 수요와 공차/탑승 성과로 영업 위치를 판단.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148A6-8690-44F5-9A41-CD7E2FFE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요청과 만족도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D77B9-922E-49EA-B373-12CCE38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요청 콘텐츠 17종, 운송당 0~2건 무작위 배정.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주행 결과와 응대 이행을 반영해 실제 운임을 정산.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D39DE-D1BB-4884-B9B2-71D1C0D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도로와 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7E159-108D-47F8-8CC2-E9EFA472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신호·보행자·회전 조건, 정체·우회, 승하차 공간 점유.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점유 시 현재는 대기만 지원하며 대체 장소 이동은 미구현.</a:t>
            </a:r>
          </a:p>
        </p:txBody>
      </p:sp>
    </p:spTree>
    <p:extLst>
      <p:ext uri="{BB962C8B-B14F-4D97-AF65-F5344CB8AC3E}">
        <p14:creationId xmlns:p14="http://schemas.microsoft.com/office/powerpoint/2010/main" val="383413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61E7B-EEFE-495C-AB86-2C5C600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시스템: 생활과 하루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E0F7B-FC43-4C3F-B6D1-62D33EA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47F4-555D-4FA1-B4CF-5E1234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차량 관리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777A0-02AC-4D0A-9623-8733FF6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연료 부족 전 주유하고 청결 저하·취객 사건 뒤 세차.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관리 비용과 이동 시간이 다음 운송 기회에 영향을 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BEFC5-B587-42D1-A974-4E461D4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운전자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99EBD-F374-42D3-81D2-464C867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식사로 포만감, 수면으로 피로를 관리.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졸음을 무시하면 조작 제한과 당일 강제 마감으로 이어진다.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38508-6A4B-4952-9496-FDF8A04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회계와 회고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49156-50E2-487C-9A0D-4338E19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수입·비용·미납·순수익, 실제 영업시간을 비교.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고정 수익 달성형 성공/실패 없이 3일의 선택을 돌아본다.</a:t>
            </a:r>
          </a:p>
        </p:txBody>
      </p:sp>
    </p:spTree>
    <p:extLst>
      <p:ext uri="{BB962C8B-B14F-4D97-AF65-F5344CB8AC3E}">
        <p14:creationId xmlns:p14="http://schemas.microsoft.com/office/powerpoint/2010/main" val="300676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75809-6A7D-42A0-98F4-2B6BBEF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차량 성장: 어떤 택시로 일할 것인가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03953-0EC4-4B44-A31D-62F3A096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AD38B-09DD-4806-9A1E-4EABE9C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구매와 차종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EFF11-3BCF-4775-B30A-B36F6B6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가격·연비·승차감·짐 공간을 비교해 차량을 고른다.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신차/중고차, 현금/할부는 서로 다른 자금 부담을 만든다.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DC474-EB11-49C7-9E5B-013EDD7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관리와 실내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91777-5523-4AEE-8978-8CC52BC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타이어·오일·필터 교체 시점과 운행 공백을 계획한다.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실내 꾸미기와 용품 구매는 차량에 대한 애착으로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B378-0F0F-4A31-90E6-521D40C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선택마다 다른 운영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232D8-E175-433C-A671-0DA55552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효율 중시 차량은 운영비, 넓은 차량은 짐 있는 운송에 초점.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무조건 상위 차를 사기보다 내가 원하는 영업 방식에 투자한다.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F5DD9-4D5E-46F9-9306-E256BB55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제품 목표 제안 · 현재는 한 차량의 연료·청결 관리만 구현. 차종 수·가격·효과는 M2 검증 후 확정</a:t>
            </a:r>
          </a:p>
        </p:txBody>
      </p:sp>
    </p:spTree>
    <p:extLst>
      <p:ext uri="{BB962C8B-B14F-4D97-AF65-F5344CB8AC3E}">
        <p14:creationId xmlns:p14="http://schemas.microsoft.com/office/powerpoint/2010/main" val="1216298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CF721-1552-42C2-9353-9CE68A6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승객 관계: 한 번의 손님에서 단골로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E73F9-2F46-431A-BD74-D0664692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A5CA8-C81B-4D1D-B243-AD6C67D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운행 안의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9E36A-8A6E-46BF-953A-D943FD1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안전 정차에서 선호를 확인하고 온도·창문·음악을 조절한다.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요청 버튼의 답변과 실제 차량 조작이 연결되도록 확장한다.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F665C-7AF9-4FE6-BBE4-EC24940B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다시 만나는 손님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6C01B-1CC2-49B4-9EC4-8B0DDEF3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동의한 승객의 선호와 이전 운행을 기억하는 단골 구조.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조용한 출근, 짐 많은 이동처럼 반복 이용 이유를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399BD-A818-49E2-9E16-5232218C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개인 예약과 하루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80219-2DEF-4D51-A989-04936FE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시간·출발지·조건을 보고 예약을 수락하거나 거절한다.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기존 약속과 자유 호출, 휴식·정비 일정의 충돌을 판단한다.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7CE57-2DF5-4040-BBAB-D2134B6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제품 목표 제안 · 현재 요청·만족도 기반 / 단골·예약·실제 에어컨·음악 조작은 미구현</a:t>
            </a:r>
          </a:p>
        </p:txBody>
      </p:sp>
    </p:spTree>
    <p:extLst>
      <p:ext uri="{BB962C8B-B14F-4D97-AF65-F5344CB8AC3E}">
        <p14:creationId xmlns:p14="http://schemas.microsoft.com/office/powerpoint/2010/main" val="752316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7F499-F62B-40BD-8D27-44AD34A7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도시의 변화: 같은 길에서도 다른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CB7E9-E5B8-42F9-AFAD-942B746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E23E8-19DC-4DB5-A8B2-E3710F33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날씨와 운전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AB327-AE28-4A5B-96E5-B59BF751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비·눈에서 시야와 제동 조건이 달라지고 와이퍼를 사용한다.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날씨가 바뀌면 익숙한 경로에서도 속도·여유 시간을 조절한다.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C7CAB-2D90-4D7C-868F-E1CFCC72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교통과 돌발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6F8BA-FA52-440D-AB03-2F1CB9E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버스·다양한 차량, 사고 현장 등으로 도로 흐름이 달라진다.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대기할지 우회할지 판단하고 승객에게 도착 변화를 설명한다.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B0203-70BC-4D61-B915-9158A84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사고 후 영업 복귀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DBF04-22E2-4015-A31E-D57076A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상황 확인 → 승객 안내 → 수리·비용 확인 → 영업 복귀.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보험과 수리 공백을 생활 장부에 연결하되 과도한 벌칙은 피한다.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8C54F-A6C0-48C8-98A6-4C1D800F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후속 후보 · 현재 기본 맑음·일반 교통·물리 충돌과 구분. 날씨/사고·보험은 별도 공수 검토 필요</a:t>
            </a:r>
          </a:p>
        </p:txBody>
      </p:sp>
    </p:spTree>
    <p:extLst>
      <p:ext uri="{BB962C8B-B14F-4D97-AF65-F5344CB8AC3E}">
        <p14:creationId xmlns:p14="http://schemas.microsoft.com/office/powerpoint/2010/main" val="222939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DF546-F4C1-46FF-AA0B-3E37B0EE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경제와 생활: 번 돈을 어디에 쓸 것인가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6F85-F35D-4035-AD64-E99F5F51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2D296-F9AE-42F9-B2B8-0ED5B57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매일의 지출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D1DAD-1A23-48CA-863C-58425096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주유·식사·세차·주차가 오늘 남기는 돈을 결정한다.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피로·포만감·청결을 보고 한 번 더 운행할지 쉼을 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AB992-7111-4EF1-89D8-85782D91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장기적인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2445F-7609-41F4-B30C-0F2E1A54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새 차 자금, 정비 준비금, 예약을 지킬 여유 시간을 확보한다.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차량 할부·보험·카드/대출은 확장 후보로 장기 회계에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72FB8-4935-4BDB-9BEF-33E404E0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생활감과 번거로움의 균형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15F8D-E1FB-46FA-8077-EFC0035A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식당·휴식 거점은 보충 메뉴를 넘어 기사 생활의 무대로 표현.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화장실·과식 등 세부 욕구는 재미 검증 후 채택 여부를 결정한다.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EEDDF-1C62-4958-8BF1-B0D57D5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현재: 현금·미납·생활비 / 목표: 차량 재투자 / 후속 검토: 금융·보험·세부 생리 욕구</a:t>
            </a:r>
          </a:p>
        </p:txBody>
      </p:sp>
    </p:spTree>
    <p:extLst>
      <p:ext uri="{BB962C8B-B14F-4D97-AF65-F5344CB8AC3E}">
        <p14:creationId xmlns:p14="http://schemas.microsoft.com/office/powerpoint/2010/main" val="1672687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FEF0E-F4EB-4398-A84B-A06A7E21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콘텐츠 라인업과 플레이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F6B6C-19B7-4689-A047-E5C7FB8B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54C6C-E095-4E15-9C9E-89C67116E39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24375"/>
                <a:gridCol w="416242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 경험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/ 제품 목표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싱글 커리어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운송·생활·차량·단골을 연결한 기사 생활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3일 Proto → 장기 영업 목표 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 운송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승객 성향·경유·정체에 맞춰 운행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요청·상황 조합 기반 확장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차량·생활 운영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주유·식사·휴식·세차와 자산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생활 구현 / 구매·정비 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연습·회고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어려운 상황 재도전·운전 기록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별도 연습·기록 구현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 모드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 시간 안의 수익·운전 점수 경쟁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PvP 후속 검토 / 초기 싱글 우선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3CF5-3414-447F-8350-CD67B350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싱글 커리어가 중심. 장편 스토리·협동 모드는 미확정이며, 모든 확장 아이디어를 동시 제작하지 않음</a:t>
            </a:r>
          </a:p>
        </p:txBody>
      </p:sp>
    </p:spTree>
    <p:extLst>
      <p:ext uri="{BB962C8B-B14F-4D97-AF65-F5344CB8AC3E}">
        <p14:creationId xmlns:p14="http://schemas.microsoft.com/office/powerpoint/2010/main" val="887216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69BEA-3DAD-40BE-A882-D1E3613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세계관과 주요 인물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A462F-F43F-495F-AD63-2C7D43C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5CA2-73C4-485C-8EC1-E46A714D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직장을 잃은 주인공이 개인택시 운전을 시작한다.</a:t>
            </a:r>
          </a:p>
          <a:p xmlns:a="http://schemas.openxmlformats.org/drawingml/2006/main">
            <a: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익숙한 동네에서 만나는 손님들과 하루하루 생계를 이어간다.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F401E-616C-4026-B8A7-4280CCA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28278-651A-4E72-8FCA-49831EC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7C0E-3E7B-4C0A-A877-BCAE3676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주인공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77CAC-B263-4384-95BB-A9E274E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생계와 안전 사이에서 오늘의 영업을 결정하는 기사.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외형·이름·세부 경력은 향후 캐릭터 기획 대상.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C78C1-E7FA-493B-9290-1483FE3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승객과 공간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25F15-E6AD-4118-BAA7-45A5D38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면접을 앞둔 손님, 조용히 가고 싶은 손님, 취객 등 일상 인물.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시흥 은계 기반 주거지·상가·교차로·주유소·식당·휴식 거점.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EE956-F677-4BF3-8E7F-B8A44D7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현대 한국의 생활권. 현재는 시스템 중심 상황 서사이며 장편 스토리 모드는 제공하지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6477158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6FC0B-E44D-4517-88EF-90FECA3E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아트 콘셉트: 밝고 친근한 한국 도시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16330-BB45-415D-98E6-59096BBA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C29F4-6C45-496A-ADED-5BB9D96E4E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75d920dab4dda"/>
          <a:stretch xmlns:a="http://schemas.openxmlformats.org/drawingml/2006/main"/>
        </p:blipFill>
        <p:spPr>
          <a:xfrm xmlns:a="http://schemas.openxmlformats.org/drawingml/2006/main">
            <a:off x="903288" y="1352550"/>
            <a:ext cx="6413500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4F349-8A8C-4FA4-874C-6169386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채택할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59FF6-EEF5-4E8A-A4DC-74D0887B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429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스타일라이즈드 3D 카툰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둥근 차량·표정이 읽히는 인물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따뜻한 햇빛·녹색 가로수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한글 상점·생활감 있는 거리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고대비 내비·짧은 결과 피드백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6A4E9-B041-4BB7-9003-15AD0BAB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개발 목표 이미지</a:t>
            </a:r>
          </a:p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 빌드와 시각 품질 차이 존재</a:t>
            </a:r>
          </a:p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서울 랜드마크 도입은 미확정</a:t>
            </a:r>
          </a:p>
        </p:txBody>
      </p:sp>
    </p:spTree>
    <p:extLst>
      <p:ext uri="{BB962C8B-B14F-4D97-AF65-F5344CB8AC3E}">
        <p14:creationId xmlns:p14="http://schemas.microsoft.com/office/powerpoint/2010/main" val="2044885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F2B4-EA74-4A25-9357-68B29BC2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생활 거점 시안: 운행 사이의 기사 생활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87982-1D93-49D3-9EB3-9CD2C22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10B29-65CC-465A-90A7-DE3E99509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c56c3377b4f57"/>
          <a:stretch xmlns:a="http://schemas.openxmlformats.org/drawingml/2006/main"/>
        </p:blipFill>
        <p:spPr>
          <a:xfrm xmlns:a="http://schemas.openxmlformats.org/drawingml/2006/main">
            <a:off x="2355722" y="1381125"/>
            <a:ext cx="7480556" cy="421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CB222-605A-44E1-88E7-08676CF6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개발 목표 시안 · 기사 식당에서 식사 → 주유·세차 → 그늘진 거점에서 휴식. 실제 지도 배치와는 다름</a:t>
            </a:r>
          </a:p>
        </p:txBody>
      </p:sp>
    </p:spTree>
    <p:extLst>
      <p:ext uri="{BB962C8B-B14F-4D97-AF65-F5344CB8AC3E}">
        <p14:creationId xmlns:p14="http://schemas.microsoft.com/office/powerpoint/2010/main" val="19172063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FD82E-C9E3-4203-886D-C4AF001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차량 성장 시안: 내 영업에 맞는 한 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0BE01-FAF3-4B6F-B3EB-2423CE65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3D3D5-C700-488E-875F-E95FCBFAD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476dcaed24ff7"/>
          <a:stretch xmlns:a="http://schemas.openxmlformats.org/drawingml/2006/main"/>
        </p:blipFill>
        <p:spPr>
          <a:xfrm xmlns:a="http://schemas.openxmlformats.org/drawingml/2006/main">
            <a:off x="2355722" y="1381125"/>
            <a:ext cx="7480556" cy="421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92E40-09D7-473B-9C7D-A392193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미구현 목표 시안 · 구매비·운영비·승차감·짐 공간의 선택. 차종·외형·수치는 상세 기획에서 확정</a:t>
            </a:r>
          </a:p>
        </p:txBody>
      </p:sp>
    </p:spTree>
    <p:extLst>
      <p:ext uri="{BB962C8B-B14F-4D97-AF65-F5344CB8AC3E}">
        <p14:creationId xmlns:p14="http://schemas.microsoft.com/office/powerpoint/2010/main" val="10903530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AC352-1AC6-46E4-B931-C703C7DA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UI/UX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6833A-109B-464A-A9AF-5437D7E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8A1F4-0A6C-409E-955E-B52FC3ED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 중에는 도로 우선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ED74F-9AB0-4A1E-ACC2-287C3AC8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속도·다음 회전·주요 위험만 빠르게 읽는다.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상태 게이지는 구분하고 요청 응답은 안전 정차에서 제공.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D861D-82BA-4B38-9548-049A67B1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탐색과 결정을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97DC7-F578-4577-9261-EA74A4B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지도에서 호출·경로·시설을 비교한 뒤 명시적으로 확정.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주행 화면에 긴 계산식과 여러 팝업을 동시에 노출하지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267F8-C1DF-479F-B8DA-B41112B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결과는 이유까지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F5895-ADAE-40F7-96D2-5929919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하차 직후 예상 운임·조정·실수령을 짧게 보여 준다.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왜 감점·변동했는지는 상세 기록에서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678998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E39D2-73A1-4F82-B8EE-19FA34C6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경쟁작과 벤치마킹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79388-EDAC-49F1-B21B-1600A0F3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723C3-9C32-47E5-9F75-E9D60AF2C54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924300"/>
              </a:tblGrid>
              <a:tr h="904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레퍼런스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 / 한계 (기획 관점)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벤치마킹 포인트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Taxi Life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강점: 도시 택시·회사 운영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한계: 한국 동네 공감과 다른 배경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호출→운행→결과의 명료성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도시 속 운전자 역할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Crazy Taxi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강점: 즉각적 운송·시간 경쟁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한계: 생활·안전 중심 목표와 거리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짧은 운행의 동기와 피드백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※ 판매 중단된 역사적 레퍼런스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Euro Truck Simulator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강점: 장거리 운송·사업 성장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한계: 짧은 승객 응대와 다른 호흡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안정적인 운전 감각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운송 후 수익·성장 피드백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C3AFB-70F2-41AA-B3EA-B830B7D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공식 제품 설명 기반 기획적 비교. 경쟁작 기능 부재·시장점유율·판매량을 주장하는 자료가 아님</a:t>
            </a:r>
          </a:p>
        </p:txBody>
      </p:sp>
    </p:spTree>
    <p:extLst>
      <p:ext uri="{BB962C8B-B14F-4D97-AF65-F5344CB8AC3E}">
        <p14:creationId xmlns:p14="http://schemas.microsoft.com/office/powerpoint/2010/main" val="2334986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3CF6F-C199-4BCD-ADDF-15E428D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시장 진입 가설과 사업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85934-D442-44D8-91E4-A01E1627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55316-4141-4559-9B40-1A0A094C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고객 가설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3B2F9-3EEE-4A7E-BD8C-03C59F1A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PC 운전·생활 시뮬레이션 이용자 중, 한국 동네의 일상과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짧은 영업 단위에 흥미를 느끼는 층을 우선 검증한다.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8D7EA-408D-4162-960F-48C62D40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수익 모델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9725-6288-4A48-A91D-FDF60EB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PC 유료 패키지 우선. 데모 반응과 제작비를 보고 가격 결정.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지역·시나리오 확장은 본편 반복 재미 확인 후 검토한다.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87B30-7B6E-46EB-94A9-99DF3316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유입 전략 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F0C2-63A1-4956-B056-4F84FE90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짧은 운행 영상과 체험 데모 → 타겟 플레이테스트 →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커뮤니티 피드백·위시리스트 전환 측정으로 수요 확인.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95F1A-6621-4B74-97B7-742E8F0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시장 규모·판매량·매출 목표는 근거 확보 전 미기재. 매출 전망은 가격·비용·전환 실측 후 산정</a:t>
            </a:r>
          </a:p>
        </p:txBody>
      </p:sp>
    </p:spTree>
    <p:extLst>
      <p:ext uri="{BB962C8B-B14F-4D97-AF65-F5344CB8AC3E}">
        <p14:creationId xmlns:p14="http://schemas.microsoft.com/office/powerpoint/2010/main" val="14553374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6DC85-229B-4B5C-965F-65AF81A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8주 검증 개발과 착수 판단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0F8D-0F3F-4AD0-8F6C-4498FB80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2CF2-F859-47DD-9D15-0E7EA41665E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8290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질문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설계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본개발 진입 목표안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처음부터 운전 가능한가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타겟 20명 이상, 첫 운송 관찰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도움 없이 첫 운송 완료 ≥80%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번 더 하고 싶은가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20분 플레이 후 재플레이 의향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5점 척도 4~5점 응답 ≥70%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 목표가 다음 운행을 부르는가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차량·단골 콘셉트와 운영 선택 평가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목표 선택 이유를 정성 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반복해도 안정적인가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3일 완주·저장 복원 테스트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불가·저장 손상 중대 결함 0건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514BA-5F82-4B57-B4F0-0BB10FB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운전·경제·안정성 모두 확인 후 본개발 심의. 목표 미달 시 원인별 개선 후 재검증 또는 범위 축소</a:t>
            </a:r>
          </a:p>
        </p:txBody>
      </p:sp>
    </p:spTree>
    <p:extLst>
      <p:ext uri="{BB962C8B-B14F-4D97-AF65-F5344CB8AC3E}">
        <p14:creationId xmlns:p14="http://schemas.microsoft.com/office/powerpoint/2010/main" val="21174288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D787D-B2A2-4A11-B77E-C421687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기능 우선순위와 확장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224B6-872C-49C7-8AD4-4EB1C57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19182-693A-4751-9813-8FBC5F1584F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524375"/>
                <a:gridCol w="3781425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승인·제작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확보한 기반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운송·교통·생활·장부·3일 영업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프로토타입의 재미·사용성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제품화 우선 제안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 선택/관리·단골/예약·장기 목표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8주 동안 대표 흐름 시연·선호·공수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확장 후보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날씨·실내 조작·사고/보험·금융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채택 기능별 비용·난도 대비 효과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후속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PvP·전역 군중·세부 생리 욕구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싱글 핵심 완성 후 투자 여부 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24EE4-C902-47D1-88FF-603CFAD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마인드맵 전체를 출시 약속으로 취급하지 않음. 우선 기능도 M2 심의에서 범위·일정·예산을 함께 확정</a:t>
            </a:r>
          </a:p>
        </p:txBody>
      </p:sp>
    </p:spTree>
    <p:extLst>
      <p:ext uri="{BB962C8B-B14F-4D97-AF65-F5344CB8AC3E}">
        <p14:creationId xmlns:p14="http://schemas.microsoft.com/office/powerpoint/2010/main" val="1827312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00EC-5CCE-44E0-BA18-879E8B1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개발 로드맵 — 착수 승인 후 12개월 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06895-C849-4F4F-B185-7C1B69A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B9902-5387-4B9C-AC22-FE1EFF4CBB4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571750"/>
                <a:gridCol w="53530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 / 다음 단계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 고도화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M1~M2 · 8주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운송·생활 루프·아트 장면 / 이용자 검증 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M3~M6 · 4개월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루프·대표 차량/단골 연결 / 채택 범위 전체 진행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M7~M9 · 3개월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경제·장기 동기·호환성·성능 / 주요 결함 해소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준비·정식 출시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M10~M12 · 3개월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QA·현지화·스토어·운영 준비 / 출시 심의 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9908B-0DC5-4E51-8397-4D8A72F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확장 범위는 M2 심의에서 확정하고 일정·인월 재산정. 글로벌 동시 출시는 현지화·지원 조건 확정 후 결정</a:t>
            </a:r>
          </a:p>
        </p:txBody>
      </p:sp>
    </p:spTree>
    <p:extLst>
      <p:ext uri="{BB962C8B-B14F-4D97-AF65-F5344CB8AC3E}">
        <p14:creationId xmlns:p14="http://schemas.microsoft.com/office/powerpoint/2010/main" val="19427824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B9180-7BC6-42A6-873B-3FE687F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개발 조직과 비용 산정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1D0DE-437D-42C6-9801-BBAD710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70C0C-C45A-48F7-BB52-8091FB92BA42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58293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인원안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책임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/ PM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범위·경제·승객 콘텐츠·검증 운영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프로그래밍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운전·교통 / 영업·UI·저장·도구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1 / 차량·캐릭터 1 / UI·TA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QA·사운드·사업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또는 외주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호환성·음향·스토어·현지화 지원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09058-3F23-458D-B801-E272D176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8주: 핵심 6명 × 2개월 ≈ 12인월</a:t>
            </a:r>
          </a:p>
          <a:p xmlns:a="http://schemas.openxmlformats.org/drawingml/2006/main">
            <a: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12개월: 핵심 6명 유지 시 72인월 + 공유·외주 비용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94E95-AD42-40AE-888B-6E2AE882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승인 예산 = 직무별 투입 인월 × 회사 표준 단가 + 외주·장비·유통비 + 회사 기준 예비비</a:t>
            </a:r>
          </a:p>
        </p:txBody>
      </p:sp>
    </p:spTree>
    <p:extLst>
      <p:ext uri="{BB962C8B-B14F-4D97-AF65-F5344CB8AC3E}">
        <p14:creationId xmlns:p14="http://schemas.microsoft.com/office/powerpoint/2010/main" val="10454935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373F6-F382-4100-BD67-DF47221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리스크와 대응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2463A-1186-4751-A060-46AFBA6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BBEDA-0FF2-4293-B128-F077D1E4A7F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429250"/>
                <a:gridCol w="22098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대응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시점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시뮬레이션이 피로해질 가능성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주행·생활 부담을 분리 관찰, 빈도·비용 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8주 이용자 테스트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콘셉트와 현 빌드의 품질 격차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거리·택시·승객 한 세트로 제작비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알파 착수 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도로·교통·판정의 복잡성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은계 한 지역 우선, 차량·단골 확장은 M2 채택 심의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프로토타입~베타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반응·사업성 미확인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 반응 및 전환 측정 후 가격·판매 목표 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본개발/출시 심의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배포·자료 이용 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지도·아트·폰트·음원 출처와 이용 조건 점검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데모 공개 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1869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623AA-637A-42A4-9E4D-5D5E644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현재 프로토타입과 아트 제작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322CF-5648-495C-A15D-6131BEC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FF10-2D05-4DFF-887C-4BE0B109E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892e269de4be5"/>
          <a:stretch xmlns:a="http://schemas.openxmlformats.org/drawingml/2006/main"/>
        </p:blipFill>
        <p:spPr>
          <a:xfrm xmlns:a="http://schemas.openxmlformats.org/drawingml/2006/main">
            <a:off x="611717" y="1476375"/>
            <a:ext cx="7806267" cy="4391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B1060-04FD-43CA-9A82-B3B0138F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현재 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B51FD-61C3-4670-B217-9B3188F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실제 도로 연결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교통·신호·내비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영업 HUD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B5A20-14E6-447B-85CB-25D14D82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추가 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A8CF6-FD43-4375-ABD1-920EB41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환경·차량·인물 아트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조명·애니메이션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UI 정리와 최적화</a:t>
            </a:r>
          </a:p>
        </p:txBody>
      </p:sp>
    </p:spTree>
    <p:extLst>
      <p:ext uri="{BB962C8B-B14F-4D97-AF65-F5344CB8AC3E}">
        <p14:creationId xmlns:p14="http://schemas.microsoft.com/office/powerpoint/2010/main" val="9463901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EBEDB-2214-4B23-AE05-9D1F1DD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프로토타입 구현 범위와 검증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61BDC-C258-4506-8953-AE933EC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34A87-7DCC-4A5C-9C91-F1C2FA4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구현 확인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C03C-DE01-43D4-B4EB-B40E2F7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은계 1,888차로·일반 교통 48대·24 정차 후보·17 요청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생활시설·피로/졸음·3일 영업·저장/복원·별도 연습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80194-D5CE-445C-85A3-3B29B4F3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기존 자동 검사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92433-6FEC-47FC-94B8-84665A07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최신 이력에 모델 28·그래프 2,549·Editor 및 Player 검사,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BuildHybrid와 배포 manifest 검증 통과가 기록됨.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D4530-DB1F-4911-B8E5-A44D05D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출시 판단 전 미검증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D7A62-178B-4E18-A76E-2E70283D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사람의 전체 20분/3일 경제 체감·장시간 성능·실물 패드.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위치 제어 검사와 자동 물리 주행은 수동 플레이를 대체하지 않음.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05162-0297-487E-A34C-C2C1252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실행: builds/EungyeTaxi/EungyeTaxi.exe / 별도 배포 폴더 전체 필요 / 본 PPT에는 실행 파일 미포함</a:t>
            </a:r>
          </a:p>
        </p:txBody>
      </p:sp>
    </p:spTree>
    <p:extLst>
      <p:ext uri="{BB962C8B-B14F-4D97-AF65-F5344CB8AC3E}">
        <p14:creationId xmlns:p14="http://schemas.microsoft.com/office/powerpoint/2010/main" val="15229794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875D5-D988-4C5A-901D-A30E3E50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시연 순서와 조작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E3A98-7990-44CF-BBE1-365FFE2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B7ECC-EF9C-450F-9DC5-9F4EB65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① 시작·호출 비교  →  ② 승차·운행  →  ③ 요청 대응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BCD58-8272-4ED5-97E9-35C91FD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④ 하차·운임 확인  →  ⑤ 시설 관리  →  ⑥ 마감·회고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5EA9F-3226-45EC-A3BE-7D31927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WASD / 방향키: 운전     Space: 제동     C: 시점</a:t>
            </a:r>
          </a:p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M: 지도·호출     F: 승하차     F7: 시설     F8: 기록</a:t>
            </a:r>
          </a:p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Esc: 일시정지     H: 조향 보조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19CBB-D7ED-447D-ABEE-F5AEAC0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정차 후 상호작용. 별도 Manual 문서에 실행 준비·실수하기 쉬운 조건·전체 조작을 수록</a:t>
            </a:r>
          </a:p>
        </p:txBody>
      </p:sp>
    </p:spTree>
    <p:extLst>
      <p:ext uri="{BB962C8B-B14F-4D97-AF65-F5344CB8AC3E}">
        <p14:creationId xmlns:p14="http://schemas.microsoft.com/office/powerpoint/2010/main" val="5331174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4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BA32C-53E1-40F3-B758-89765DD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의사결정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40AB-8E39-437D-ADD3-82D647B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0BD56-482D-4D8A-8C84-884A321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rPr>
              <a:t>8주 동안 검증할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C81C5-A3EE-441B-B999-F95A662F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운전이 재미있는가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생활·차량·단골 목표가 반복 플레이를 만드는가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아트를 감당 가능한 공수로 제작할 수 있는가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261EA-6893-4805-BA43-CADEED4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요청: 책임자 지정 · 핵심 인력 6명 배정 · 8주 예산 한도 승인</a:t>
            </a:r>
          </a:p>
          <a:p xmlns:a="http://schemas.openxmlformats.org/drawingml/2006/main">
            <a: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결과: 이용자 테스트와 대표 빌드로 본개발 투자 여부 재심의</a:t>
            </a:r>
          </a:p>
        </p:txBody>
      </p:sp>
    </p:spTree>
    <p:extLst>
      <p:ext uri="{BB962C8B-B14F-4D97-AF65-F5344CB8AC3E}">
        <p14:creationId xmlns:p14="http://schemas.microsoft.com/office/powerpoint/2010/main" val="10292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2026-10-27T09:53:43.7270000Z</dcterms:created>
  <dcterms:modified xsi:type="dcterms:W3CDTF">2026-10-27T09:53:43.7270000Z</dcterms:modified>
</coreProperties>
</file>