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b4ffcf261e4d33" /><Relationship Type="http://schemas.openxmlformats.org/officeDocument/2006/relationships/extended-properties" Target="/docProps/app.xml" Id="Rbec38f6902044506" /><Relationship Type="http://schemas.openxmlformats.org/officeDocument/2006/relationships/officeDocument" Target="/ppt/presentation.xml" Id="Rd582855d010c49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05728c13ef4bdf"/>
  </p:sldMasterIdLst>
  <p:notesMasterIdLst>
    <p:notesMasterId xmlns:r="http://schemas.openxmlformats.org/officeDocument/2006/relationships" r:id="R0b3586333f2f4782"/>
  </p:notesMasterIdLst>
  <p:sldIdLst>
    <p:sldId xmlns:r="http://schemas.openxmlformats.org/officeDocument/2006/relationships" id="256" r:id="R23072e5d89c049f7"/>
    <p:sldId xmlns:r="http://schemas.openxmlformats.org/officeDocument/2006/relationships" id="257" r:id="R5c988a47b1454a40"/>
    <p:sldId xmlns:r="http://schemas.openxmlformats.org/officeDocument/2006/relationships" id="258" r:id="Ra228872235c649c2"/>
    <p:sldId xmlns:r="http://schemas.openxmlformats.org/officeDocument/2006/relationships" id="259" r:id="R48cdabd70fce4fcf"/>
    <p:sldId xmlns:r="http://schemas.openxmlformats.org/officeDocument/2006/relationships" id="260" r:id="R6d3fe7305d384ddf"/>
    <p:sldId xmlns:r="http://schemas.openxmlformats.org/officeDocument/2006/relationships" id="261" r:id="Rc27df0cc03174101"/>
    <p:sldId xmlns:r="http://schemas.openxmlformats.org/officeDocument/2006/relationships" id="262" r:id="R49a25ac39ac54c77"/>
    <p:sldId xmlns:r="http://schemas.openxmlformats.org/officeDocument/2006/relationships" id="263" r:id="R5be4f226c22448e6"/>
    <p:sldId xmlns:r="http://schemas.openxmlformats.org/officeDocument/2006/relationships" id="264" r:id="Rd8db5acc752c4403"/>
    <p:sldId xmlns:r="http://schemas.openxmlformats.org/officeDocument/2006/relationships" id="265" r:id="R55b164842591457b"/>
    <p:sldId xmlns:r="http://schemas.openxmlformats.org/officeDocument/2006/relationships" id="266" r:id="R8cf89af6396e4d7d"/>
    <p:sldId xmlns:r="http://schemas.openxmlformats.org/officeDocument/2006/relationships" id="267" r:id="R034df23fc15e4ea9"/>
    <p:sldId xmlns:r="http://schemas.openxmlformats.org/officeDocument/2006/relationships" id="268" r:id="R6c06d637f0e14529"/>
    <p:sldId xmlns:r="http://schemas.openxmlformats.org/officeDocument/2006/relationships" id="269" r:id="R49733f161b824ce8"/>
    <p:sldId xmlns:r="http://schemas.openxmlformats.org/officeDocument/2006/relationships" id="270" r:id="Rb7ca3774f48c4e22"/>
    <p:sldId xmlns:r="http://schemas.openxmlformats.org/officeDocument/2006/relationships" id="271" r:id="R2881686b8c9b4d37"/>
    <p:sldId xmlns:r="http://schemas.openxmlformats.org/officeDocument/2006/relationships" id="272" r:id="R2004be410a0f4eca"/>
    <p:sldId xmlns:r="http://schemas.openxmlformats.org/officeDocument/2006/relationships" id="273" r:id="Re1a4eb0096714533"/>
    <p:sldId xmlns:r="http://schemas.openxmlformats.org/officeDocument/2006/relationships" id="274" r:id="Rbfb5a7f8d1ad4f38"/>
    <p:sldId xmlns:r="http://schemas.openxmlformats.org/officeDocument/2006/relationships" id="275" r:id="R9ed618b39fe9482d"/>
    <p:sldId xmlns:r="http://schemas.openxmlformats.org/officeDocument/2006/relationships" id="276" r:id="R93c18edfd33f40d8"/>
    <p:sldId xmlns:r="http://schemas.openxmlformats.org/officeDocument/2006/relationships" id="277" r:id="Rb17e40eeeacf47c1"/>
    <p:sldId xmlns:r="http://schemas.openxmlformats.org/officeDocument/2006/relationships" id="278" r:id="Rb4685d19adb442a1"/>
    <p:sldId xmlns:r="http://schemas.openxmlformats.org/officeDocument/2006/relationships" id="279" r:id="Rab858aa6ca504b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24b08e07fd4595" /><Relationship Type="http://schemas.openxmlformats.org/officeDocument/2006/relationships/slideMaster" Target="/ppt/slideMasters/slideMaster1.xml" Id="R2e05728c13ef4bdf" /><Relationship Type="http://schemas.openxmlformats.org/officeDocument/2006/relationships/notesMaster" Target="/ppt/notesMasters/notesMaster1.xml" Id="R0b3586333f2f4782" /><Relationship Type="http://schemas.openxmlformats.org/officeDocument/2006/relationships/presProps" Target="/ppt/presProps.xml" Id="R2add7524c3b948fe" /><Relationship Type="http://schemas.openxmlformats.org/officeDocument/2006/relationships/tableStyles" Target="/ppt/tableStyles.xml" Id="R8c1ba1647164460d" /><Relationship Type="http://schemas.openxmlformats.org/officeDocument/2006/relationships/slide" Target="/ppt/slides/slide1.xml" Id="R23072e5d89c049f7" /><Relationship Type="http://schemas.openxmlformats.org/officeDocument/2006/relationships/slide" Target="/ppt/slides/slide2.xml" Id="R5c988a47b1454a40" /><Relationship Type="http://schemas.openxmlformats.org/officeDocument/2006/relationships/slide" Target="/ppt/slides/slide3.xml" Id="Ra228872235c649c2" /><Relationship Type="http://schemas.openxmlformats.org/officeDocument/2006/relationships/slide" Target="/ppt/slides/slide4.xml" Id="R48cdabd70fce4fcf" /><Relationship Type="http://schemas.openxmlformats.org/officeDocument/2006/relationships/slide" Target="/ppt/slides/slide5.xml" Id="R6d3fe7305d384ddf" /><Relationship Type="http://schemas.openxmlformats.org/officeDocument/2006/relationships/slide" Target="/ppt/slides/slide6.xml" Id="Rc27df0cc03174101" /><Relationship Type="http://schemas.openxmlformats.org/officeDocument/2006/relationships/slide" Target="/ppt/slides/slide7.xml" Id="R49a25ac39ac54c77" /><Relationship Type="http://schemas.openxmlformats.org/officeDocument/2006/relationships/slide" Target="/ppt/slides/slide8.xml" Id="R5be4f226c22448e6" /><Relationship Type="http://schemas.openxmlformats.org/officeDocument/2006/relationships/slide" Target="/ppt/slides/slide9.xml" Id="Rd8db5acc752c4403" /><Relationship Type="http://schemas.openxmlformats.org/officeDocument/2006/relationships/slide" Target="/ppt/slides/slide10.xml" Id="R55b164842591457b" /><Relationship Type="http://schemas.openxmlformats.org/officeDocument/2006/relationships/slide" Target="/ppt/slides/slide11.xml" Id="R8cf89af6396e4d7d" /><Relationship Type="http://schemas.openxmlformats.org/officeDocument/2006/relationships/slide" Target="/ppt/slides/slide12.xml" Id="R034df23fc15e4ea9" /><Relationship Type="http://schemas.openxmlformats.org/officeDocument/2006/relationships/slide" Target="/ppt/slides/slide13.xml" Id="R6c06d637f0e14529" /><Relationship Type="http://schemas.openxmlformats.org/officeDocument/2006/relationships/slide" Target="/ppt/slides/slide14.xml" Id="R49733f161b824ce8" /><Relationship Type="http://schemas.openxmlformats.org/officeDocument/2006/relationships/slide" Target="/ppt/slides/slide15.xml" Id="Rb7ca3774f48c4e22" /><Relationship Type="http://schemas.openxmlformats.org/officeDocument/2006/relationships/slide" Target="/ppt/slides/slide16.xml" Id="R2881686b8c9b4d37" /><Relationship Type="http://schemas.openxmlformats.org/officeDocument/2006/relationships/slide" Target="/ppt/slides/slide17.xml" Id="R2004be410a0f4eca" /><Relationship Type="http://schemas.openxmlformats.org/officeDocument/2006/relationships/slide" Target="/ppt/slides/slide18.xml" Id="Re1a4eb0096714533" /><Relationship Type="http://schemas.openxmlformats.org/officeDocument/2006/relationships/slide" Target="/ppt/slides/slide19.xml" Id="Rbfb5a7f8d1ad4f38" /><Relationship Type="http://schemas.openxmlformats.org/officeDocument/2006/relationships/slide" Target="/ppt/slides/slide20.xml" Id="R9ed618b39fe9482d" /><Relationship Type="http://schemas.openxmlformats.org/officeDocument/2006/relationships/slide" Target="/ppt/slides/slide21.xml" Id="R93c18edfd33f40d8" /><Relationship Type="http://schemas.openxmlformats.org/officeDocument/2006/relationships/slide" Target="/ppt/slides/slide22.xml" Id="Rb17e40eeeacf47c1" /><Relationship Type="http://schemas.openxmlformats.org/officeDocument/2006/relationships/slide" Target="/ppt/slides/slide23.xml" Id="Rb4685d19adb442a1" /><Relationship Type="http://schemas.openxmlformats.org/officeDocument/2006/relationships/slide" Target="/ppt/slides/slide24.xml" Id="Rab858aa6ca504b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f5cdd50c1c48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1159054b184bea" /><Relationship Type="http://schemas.openxmlformats.org/officeDocument/2006/relationships/notesMaster" Target="/ppt/notesMasters/notesMaster1.xml" Id="R1e80b44967cf48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2282f0dfb3456f" /><Relationship Type="http://schemas.openxmlformats.org/officeDocument/2006/relationships/notesMaster" Target="/ppt/notesMasters/notesMaster1.xml" Id="Ra1ce82af7e7a47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1b72cf35b74007" /><Relationship Type="http://schemas.openxmlformats.org/officeDocument/2006/relationships/notesMaster" Target="/ppt/notesMasters/notesMaster1.xml" Id="R7312ae913af649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95895f0e944be3" /><Relationship Type="http://schemas.openxmlformats.org/officeDocument/2006/relationships/notesMaster" Target="/ppt/notesMasters/notesMaster1.xml" Id="Rcd6adc6d63264e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87e61f86924981" /><Relationship Type="http://schemas.openxmlformats.org/officeDocument/2006/relationships/notesMaster" Target="/ppt/notesMasters/notesMaster1.xml" Id="R5a8b662bd9d542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c4358b5f85412f" /><Relationship Type="http://schemas.openxmlformats.org/officeDocument/2006/relationships/notesMaster" Target="/ppt/notesMasters/notesMaster1.xml" Id="Rf3f48a985eb04e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79ba5862fc4e1a" /><Relationship Type="http://schemas.openxmlformats.org/officeDocument/2006/relationships/notesMaster" Target="/ppt/notesMasters/notesMaster1.xml" Id="R8c298e3fd6a24f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b01d1d4f3a4d4f" /><Relationship Type="http://schemas.openxmlformats.org/officeDocument/2006/relationships/notesMaster" Target="/ppt/notesMasters/notesMaster1.xml" Id="Re29418f2428249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48e9833be246ea" /><Relationship Type="http://schemas.openxmlformats.org/officeDocument/2006/relationships/notesMaster" Target="/ppt/notesMasters/notesMaster1.xml" Id="R1a1210e71ee64f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b492794406472d" /><Relationship Type="http://schemas.openxmlformats.org/officeDocument/2006/relationships/notesMaster" Target="/ppt/notesMasters/notesMaster1.xml" Id="R9ffb1677abad46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a5231d08c84553" /><Relationship Type="http://schemas.openxmlformats.org/officeDocument/2006/relationships/notesMaster" Target="/ppt/notesMasters/notesMaster1.xml" Id="Red6f667e7f704a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7853cdb747473f" /><Relationship Type="http://schemas.openxmlformats.org/officeDocument/2006/relationships/notesMaster" Target="/ppt/notesMasters/notesMaster1.xml" Id="R520a736a688449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42075a8ccb466a" /><Relationship Type="http://schemas.openxmlformats.org/officeDocument/2006/relationships/notesMaster" Target="/ppt/notesMasters/notesMaster1.xml" Id="R6030ae901a0742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f52030387044c2" /><Relationship Type="http://schemas.openxmlformats.org/officeDocument/2006/relationships/notesMaster" Target="/ppt/notesMasters/notesMaster1.xml" Id="R6fccdc75677f4a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be45280f7e4a5f" /><Relationship Type="http://schemas.openxmlformats.org/officeDocument/2006/relationships/notesMaster" Target="/ppt/notesMasters/notesMaster1.xml" Id="Rb346555e5c614f1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086a0a1e874e33" /><Relationship Type="http://schemas.openxmlformats.org/officeDocument/2006/relationships/notesMaster" Target="/ppt/notesMasters/notesMaster1.xml" Id="R650de56486d945b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212ce8db3604efa" /><Relationship Type="http://schemas.openxmlformats.org/officeDocument/2006/relationships/notesMaster" Target="/ppt/notesMasters/notesMaster1.xml" Id="R3aaaf2cafcae416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e0369cedfdd4c24" /><Relationship Type="http://schemas.openxmlformats.org/officeDocument/2006/relationships/notesMaster" Target="/ppt/notesMasters/notesMaster1.xml" Id="Rbc926c9ac91842e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c57a6414c654cee" /><Relationship Type="http://schemas.openxmlformats.org/officeDocument/2006/relationships/notesMaster" Target="/ppt/notesMasters/notesMaster1.xml" Id="Ra68d9b9472a8459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be1cc2abdf744bf" /><Relationship Type="http://schemas.openxmlformats.org/officeDocument/2006/relationships/notesMaster" Target="/ppt/notesMasters/notesMaster1.xml" Id="Re6030cf878424ac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2c3d62d089d4e2e" /><Relationship Type="http://schemas.openxmlformats.org/officeDocument/2006/relationships/notesMaster" Target="/ppt/notesMasters/notesMaster1.xml" Id="Rf94563a11413444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12c4982bd3444ee" /><Relationship Type="http://schemas.openxmlformats.org/officeDocument/2006/relationships/notesMaster" Target="/ppt/notesMasters/notesMaster1.xml" Id="R9c9b778cf74648b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4061760b48f4721" /><Relationship Type="http://schemas.openxmlformats.org/officeDocument/2006/relationships/notesMaster" Target="/ppt/notesMasters/notesMaster1.xml" Id="R8bbf4d61994448b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7cac0db2ae944f0" /><Relationship Type="http://schemas.openxmlformats.org/officeDocument/2006/relationships/notesMaster" Target="/ppt/notesMasters/notesMaster1.xml" Id="R23d0b6f17faa40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 사용자 제공 콘셉트 이미지. 가제·아트 목표이며 현재 게임 화면이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 8주·6명은 미승인 제안 가정.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 타겟과 유통 채널은 제안 가설.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</a:t>
            </a:r>
          </a:p>
          <a:p xmlns:a="http://schemas.openxmlformats.org/drawingml/2006/main">
            <a:r>
              <a:t>공식 제품 설명 확인 2026-10-27. https://store.steampowered.com/app/1351240/Taxi_Life_A_City_Driving_Simulator/ ; https://store.steampowered.com/app/71230/Crazy_Taxi/ ; https://store.steampowered.com/app/227300/Euro_Truck_Simulator_2/ . 경쟁작의 장단점 및 적합성 평가는 본 제안의 기획적 해석이며 판매성과 비교가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</a:t>
            </a:r>
          </a:p>
          <a:p xmlns:a="http://schemas.openxmlformats.org/drawingml/2006/main">
            <a:r>
              <a:t>코드: unity/EungyeTaxi/Assets/Scripts/TaxiController.cs, DrivingCamera.cs, TaxiSignals.cs, DriveSession.cs.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</a:t>
            </a:r>
          </a:p>
          <a:p xmlns:a="http://schemas.openxmlformats.org/drawingml/2006/main">
            <a:r>
              <a:t>상세 수치는 docs/content-design/03-life-and-economy.md의 시험 밸런스 값.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 실명 캐릭터 및 장편 스토리는 미확정.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이미지 원본을 아트 참고로 사용. 이미지 속 서울역·남산·강남은 은계 구현 공간과 다르며 게임 화면/기능 증빙이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</a:t>
            </a:r>
          </a:p>
          <a:p xmlns:a="http://schemas.openxmlformats.org/drawingml/2006/main">
            <a:r>
              <a:t>화면: artifacts/nav-tip-signs.png, 기존 개발 검사 캡처. 이번 제안서 작업 중 새 플레이를 수행한 화면이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 레이아웃 정제는 제안 사항.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공식 제품 설명 확인 2026-10-27. https://store.steampowered.com/app/1351240/Taxi_Life_A_City_Driving_Simulator/ ; https://store.steampowered.com/app/71230/Crazy_Taxi/ ; https://store.steampowered.com/app/227300/Euro_Truck_Simulator_2/ . 경쟁작의 장단점 및 적합성 평가는 본 제안의 기획적 해석이며 판매성과 비교가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공식 제품 설명 확인 2026-10-27. https://store.steampowered.com/app/1351240/Taxi_Life_A_City_Driving_Simulator/ ; https://store.steampowered.com/app/71230/Crazy_Taxi/ ; https://store.steampowered.com/app/227300/Euro_Truck_Simulator_2/ . 경쟁작의 장단점 및 적합성 평가는 본 제안의 기획적 해석이며 판매성과 비교가 아님. BM·마케팅은 제안이며 승인/매출 전망이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 아래 수치는 회사 심의를 위한 제안 목표. 실적/업계 기준이 아니며 표본 규모도 제안.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 핵심 6명+공유 인력, 1개 지역 우선의 일정 가정. 확정 일정 아님. M은 승인 후 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인원·기간·MM은 제안 가정. MM=인월. 회사 표준 단가·공유 인력·외주 금액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참여자 실명·총인원·직군별 기여는 사용자 지시에 따라 회사 제출 전 확인 필요로 명시. 아래는 기여 확인 항목이며 현재 인력 배치 사실이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</a:t>
            </a:r>
          </a:p>
          <a:p xmlns:a="http://schemas.openxmlformats.org/drawingml/2006/main">
            <a:r>
              <a:t>최신 이력: docs/work-history/2026-10-27-nav-tip-drowsy-mindmap.md. 기존 검증 기록을 요약하며 이번 문서 작업에서 게임 테스트를 재실행하지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docs/content-design/00~05, docs/prototype-scope.md, docs/prototype-development-checklist.md. 기준 2026-10-27. 실제 게임 구현과 제안 사항을 구분. 별도 문서: docs/proposals/project-b-prototype-manual-v1.md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본 페이지의 인력·기간·검증 게이트는 제안. 승인 여부는 회사 결정.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037ec7249d48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3ccfc09c44f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7e7e426ed147e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f29544cf254d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d158eda1934f7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0ee8294ad04d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6C45A8-C140-4362-A9D8-E45949783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CD7C26-DB7D-48A2-84DB-A60E165153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CCA827-50CC-43E0-B699-67F6DF764B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3ABB22-3428-412E-BC7E-280397F265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44D313F-C3D8-469D-AB36-37E6EF3ABB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87EED33-DAFF-4511-9286-A92789FB2C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183D07-0488-45E4-B99F-4498EBFE80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8E84108-9E39-4077-8295-73358A90128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86B5E0-50D4-478A-BF56-662D255528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A1823F-DBA9-4693-9510-EB550568B1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887b51ae244705" /><Relationship Type="http://schemas.openxmlformats.org/officeDocument/2006/relationships/slideLayout" Target="/ppt/slideLayouts/slideLayout1.xml" Id="R7b24aa87a2f84d0e" /><Relationship Type="http://schemas.openxmlformats.org/officeDocument/2006/relationships/slideLayout" Target="/ppt/slideLayouts/slideLayout2.xml" Id="Rb7eb6e038a6a4016" /><Relationship Type="http://schemas.openxmlformats.org/officeDocument/2006/relationships/slideLayout" Target="/ppt/slideLayouts/slideLayout3.xml" Id="Refe0a5701b9d4f36" /><Relationship Type="http://schemas.openxmlformats.org/officeDocument/2006/relationships/slideLayout" Target="/ppt/slideLayouts/slideLayout4.xml" Id="Rc087670d86c5422a" /><Relationship Type="http://schemas.openxmlformats.org/officeDocument/2006/relationships/slideLayout" Target="/ppt/slideLayouts/slideLayout5.xml" Id="R97cbc39f49e44c2b" /><Relationship Type="http://schemas.openxmlformats.org/officeDocument/2006/relationships/slideLayout" Target="/ppt/slideLayouts/slideLayout6.xml" Id="R9e1828e18ddc42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24aa87a2f84d0e"/>
    <p:sldLayoutId xmlns:r="http://schemas.openxmlformats.org/officeDocument/2006/relationships" id="2147483650" r:id="Rb7eb6e038a6a4016"/>
    <p:sldLayoutId xmlns:r="http://schemas.openxmlformats.org/officeDocument/2006/relationships" id="2147483651" r:id="Refe0a5701b9d4f36"/>
    <p:sldLayoutId xmlns:r="http://schemas.openxmlformats.org/officeDocument/2006/relationships" id="2147483652" r:id="Rc087670d86c5422a"/>
    <p:sldLayoutId xmlns:r="http://schemas.openxmlformats.org/officeDocument/2006/relationships" id="2147483653" r:id="R97cbc39f49e44c2b"/>
    <p:sldLayoutId xmlns:r="http://schemas.openxmlformats.org/officeDocument/2006/relationships" id="2147483654" r:id="R9e1828e18ddc42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fa1e7abace45d4" /><Relationship Type="http://schemas.openxmlformats.org/officeDocument/2006/relationships/image" Target="/ppt/media/image.png" Id="Rf197ef5e7f51492a" /><Relationship Type="http://schemas.openxmlformats.org/officeDocument/2006/relationships/notesSlide" Target="/ppt/notesSlides/notesSlide1.xml" Id="Rff383e3ced8141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4f2d75acd64f5a" /><Relationship Type="http://schemas.openxmlformats.org/officeDocument/2006/relationships/notesSlide" Target="/ppt/notesSlides/notesSlide2.xml" Id="Rd05e3170b31249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bcfb4867634d45" /><Relationship Type="http://schemas.openxmlformats.org/officeDocument/2006/relationships/notesSlide" Target="/ppt/notesSlides/notesSlide3.xml" Id="Re8897ea5ef2946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0b1e7511ac48e5" /><Relationship Type="http://schemas.openxmlformats.org/officeDocument/2006/relationships/notesSlide" Target="/ppt/notesSlides/notesSlide4.xml" Id="R66b09577e31c4d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772869e4034da9" /><Relationship Type="http://schemas.openxmlformats.org/officeDocument/2006/relationships/notesSlide" Target="/ppt/notesSlides/notesSlide5.xml" Id="R9fec7e373b554d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f1894bc52a4600" /><Relationship Type="http://schemas.openxmlformats.org/officeDocument/2006/relationships/notesSlide" Target="/ppt/notesSlides/notesSlide6.xml" Id="R250968c460c34d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3fcc1d45f44a7a" /><Relationship Type="http://schemas.openxmlformats.org/officeDocument/2006/relationships/notesSlide" Target="/ppt/notesSlides/notesSlide7.xml" Id="R760057a5d1e544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35122af5f34f12" /><Relationship Type="http://schemas.openxmlformats.org/officeDocument/2006/relationships/notesSlide" Target="/ppt/notesSlides/notesSlide8.xml" Id="R9fc78c5693a24f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8f323646e04957" /><Relationship Type="http://schemas.openxmlformats.org/officeDocument/2006/relationships/notesSlide" Target="/ppt/notesSlides/notesSlide9.xml" Id="R6fd9d7d68ffc4d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caf19b58ac4b78" /><Relationship Type="http://schemas.openxmlformats.org/officeDocument/2006/relationships/notesSlide" Target="/ppt/notesSlides/notesSlide10.xml" Id="Rf7e650a63a2642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169e68132c4f09" /><Relationship Type="http://schemas.openxmlformats.org/officeDocument/2006/relationships/notesSlide" Target="/ppt/notesSlides/notesSlide11.xml" Id="R91cf9c6ce03642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9883587cda49e8" /><Relationship Type="http://schemas.openxmlformats.org/officeDocument/2006/relationships/image" Target="/ppt/media/image2.png" Id="Rb728024d153143e9" /><Relationship Type="http://schemas.openxmlformats.org/officeDocument/2006/relationships/notesSlide" Target="/ppt/notesSlides/notesSlide12.xml" Id="R5605a37e544746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3ed1b5a67545b6" /><Relationship Type="http://schemas.openxmlformats.org/officeDocument/2006/relationships/image" Target="/ppt/media/image3.png" Id="R8e2170da9b984561" /><Relationship Type="http://schemas.openxmlformats.org/officeDocument/2006/relationships/notesSlide" Target="/ppt/notesSlides/notesSlide13.xml" Id="R95f69e926a7542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69f2927ce043fa" /><Relationship Type="http://schemas.openxmlformats.org/officeDocument/2006/relationships/notesSlide" Target="/ppt/notesSlides/notesSlide14.xml" Id="Ra28e080eb3854c8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ade51edef545e8" /><Relationship Type="http://schemas.openxmlformats.org/officeDocument/2006/relationships/notesSlide" Target="/ppt/notesSlides/notesSlide15.xml" Id="Re451089f0c7c439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22287aaf03419f" /><Relationship Type="http://schemas.openxmlformats.org/officeDocument/2006/relationships/notesSlide" Target="/ppt/notesSlides/notesSlide16.xml" Id="Rd59e907d506f468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e79660521c45ef" /><Relationship Type="http://schemas.openxmlformats.org/officeDocument/2006/relationships/notesSlide" Target="/ppt/notesSlides/notesSlide17.xml" Id="R95afdc36a99d47e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c500bcfbc74f8a" /><Relationship Type="http://schemas.openxmlformats.org/officeDocument/2006/relationships/notesSlide" Target="/ppt/notesSlides/notesSlide18.xml" Id="Rb81f902c3541447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3c3fbb90b348b3" /><Relationship Type="http://schemas.openxmlformats.org/officeDocument/2006/relationships/notesSlide" Target="/ppt/notesSlides/notesSlide19.xml" Id="R445e5c0c40ce4b4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f064fccc41469b" /><Relationship Type="http://schemas.openxmlformats.org/officeDocument/2006/relationships/notesSlide" Target="/ppt/notesSlides/notesSlide20.xml" Id="Rc7cf2a3903964ec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f36f706cb84a22" /><Relationship Type="http://schemas.openxmlformats.org/officeDocument/2006/relationships/notesSlide" Target="/ppt/notesSlides/notesSlide21.xml" Id="R76e962224660493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f2f07c0e2e447d" /><Relationship Type="http://schemas.openxmlformats.org/officeDocument/2006/relationships/notesSlide" Target="/ppt/notesSlides/notesSlide22.xml" Id="R74f38ae3857248a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a055cd65644e81" /><Relationship Type="http://schemas.openxmlformats.org/officeDocument/2006/relationships/notesSlide" Target="/ppt/notesSlides/notesSlide23.xml" Id="Rc06ea0812785499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99fa8c35564a0a" /><Relationship Type="http://schemas.openxmlformats.org/officeDocument/2006/relationships/notesSlide" Target="/ppt/notesSlides/notesSlide24.xml" Id="R6de356a303a94e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22F9F-DE49-473F-8493-03F8A39F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오늘도 택시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727F8-7EFC-45F4-BEBB-27CA29C8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53247-3DE6-48F9-A242-91664A73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14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한국의 동네를 달리는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택시 생활 시뮬레이션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4A89C-C35D-48E8-80AC-1B557B5F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rPr>
              <a:t>PROJECT-B  |  게임 개발 착수 제안</a:t>
            </a:r>
          </a:p>
          <a:p xmlns:a="http://schemas.openxmlformats.org/drawingml/2006/main">
            <a:pPr>
              <a:def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rPr>
              <a:t>회사 내부 검토용 1차안 · 2026.10.27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2DAD8-2A2C-465A-800B-E5D1B6B3A6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7ef5e7f51492a"/>
          <a:stretch xmlns:a="http://schemas.openxmlformats.org/drawingml/2006/main"/>
        </p:blipFill>
        <p:spPr>
          <a:xfrm xmlns:a="http://schemas.openxmlformats.org/drawingml/2006/main">
            <a:off x="6286500" y="1384697"/>
            <a:ext cx="5286375" cy="396478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31219-9960-4061-BC46-D7772EDA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24500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rPr>
              <a:t>아트 방향 참고 · 현재 구현 화면 아님</a:t>
            </a:r>
          </a:p>
        </p:txBody>
      </p:sp>
    </p:spTree>
    <p:extLst>
      <p:ext uri="{BB962C8B-B14F-4D97-AF65-F5344CB8AC3E}">
        <p14:creationId xmlns:p14="http://schemas.microsoft.com/office/powerpoint/2010/main" val="1910387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75E40-4F29-47FC-B33E-2D7F56F7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제안 요약 및 승인 요청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518EF-3831-4C05-A077-AF205D29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28FFD-CFB9-4FD2-BAAC-DF3257ED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제안하는 게임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57B76-0B06-4DA4-8754-E6B29716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실제 한국 동네를 바탕으로 운전하고 손님을 응대하며,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개인택시 기사의 하루 수익과 생활을 관리하는 PC 게임.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FCA13-CFF4-4DBB-B40D-87334A22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이미 확보한 기반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FF98A-82FA-4AD5-972D-7C8CFE7C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은계 도로, 승객 운송, 생활 관리, 3일 영업이 연결된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Unity 프로토타입과 Windows 실행 빌드가 존재.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59778-56F8-41C8-B176-7330A580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이번 승인 범위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84AB3-DD49-466E-A59C-45F4B5A3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핵심 6명 기준 8주 검증 개발 착수 제안.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운전 재미·경제 반복성·대표 아트 장면을 확인 후 본개발 결정.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DF612-AA6E-4F66-8A66-6508B055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확정 요청: 책임자·전담 인력·8주 비용 한도·검증 기준 / 전체 출시 예산은 후속 심의</a:t>
            </a:r>
          </a:p>
        </p:txBody>
      </p:sp>
    </p:spTree>
    <p:extLst>
      <p:ext uri="{BB962C8B-B14F-4D97-AF65-F5344CB8AC3E}">
        <p14:creationId xmlns:p14="http://schemas.microsoft.com/office/powerpoint/2010/main" val="2675368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F994F-EDF3-4A52-A257-BCF2C36A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프로젝트 개요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D0D6B-D76E-4BA1-8635-C2210B0D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3BA70-3ABE-478D-A170-B0DD8DF5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손님을 목적지까지 모시는 한 번의 운행이</a:t>
            </a:r>
          </a:p>
          <a:p xmlns:a="http://schemas.openxmlformats.org/drawingml/2006/main">
            <a:pPr>
              <a:def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오늘의 수입과 내일의 컨디션을 바꾼다.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8385B-A872-4C80-97F6-1C304CB45FF0}"/>
              </a:ext>
            </a:extLst>
          </p:cNvPr>
          <p:cNvGraphicFramePr/>
          <p:nvPr/>
        </p:nvGraphicFramePr>
        <p:xfrm>
          <a:off xmlns:a="http://schemas.openxmlformats.org/drawingml/2006/main" x="609600" y="2809875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제안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게임명 / 장르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오늘도 택시(가제) / 운전 시뮬레이션 + 생활·영업 관리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플랫폼 / 플레이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 Windows 우선 · 싱글플레이 · 1인칭/3인칭 전환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타겟 가설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20~40대, 성별 제한 없음 · 운전·생활 시뮬레이션 선호층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플레이 규모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Proto: 하루 예정 20분 × 3일 + 초과 영업·별도 연습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78953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F48A7-3637-4516-947C-BE4638BE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핵심 재미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81DCC-7F8F-418D-AE0E-37AE01B9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25669-07F9-48ED-9746-28C931C0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운전 판단의 성취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70174-6963-4902-AF28-6E650A47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신호·보행자·정체를 읽고 합법 경로를 선택한다.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안전하게 도착하는 과정 자체가 플레이가 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005A6-31C2-4B4C-A723-6B7B7024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승객마다 다른 운행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F9808-5CA1-43FD-9DB6-5D415D05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차멀미, 정시 도착, 경유 등 요청에 대응한다.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수락한 약속은 실제 주행과 하차 결과로 평가된다.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D69FE-AB9E-4576-A054-533D14C2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나아지는 하루 운영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DDFE4-0C1B-408C-B4FC-BC6DA36B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공차 이동과 시설 비용을 줄이며 순수익을 비교한다.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운전 점수·승객 만족·순수익을 각기 다른 성과로 읽는다.</a:t>
            </a:r>
          </a:p>
        </p:txBody>
      </p:sp>
    </p:spTree>
    <p:extLst>
      <p:ext uri="{BB962C8B-B14F-4D97-AF65-F5344CB8AC3E}">
        <p14:creationId xmlns:p14="http://schemas.microsoft.com/office/powerpoint/2010/main" val="11706937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4503D-A53D-4832-B784-74E51B6B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핵심 셀링 포인트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F181F-6424-4A34-9EAA-65051C20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75B63-9109-492E-B6EA-93996201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한국 동네의 일상성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32EE9-0135-471D-88D2-C517E3B9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Taxi Life 대비, 바르셀로나 관광 도시 경험 대신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은계 기반 도로·한글 표지·생활시설에 집중하는 방향.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504AE-DEC0-42A6-BB7D-8791DAE4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안전 운전과 승객 응대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C507B-AB94-4326-82B4-4E03943C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Crazy Taxi 대비, 과격한 시간 경쟁보다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안전한 운송과 약속 이행을 재미의 중심에 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B158A-4D8A-4DAF-B8D2-A4650270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짧은 영업의 생활 전략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D0277-F3FD-4CE8-B0B7-99C132E3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Euro Truck Simulator 2 대비, 장거리 화물 운송보다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동네 안의 짧은 운송·식사·휴식·청결 판단에 집중한다.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9AF03-1B28-4C15-A156-68A08873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차별화 방향에 대한 제안이며, 경쟁 우위의 이용자 검증은 8주 단계에서 수행</a:t>
            </a:r>
          </a:p>
        </p:txBody>
      </p:sp>
    </p:spTree>
    <p:extLst>
      <p:ext uri="{BB962C8B-B14F-4D97-AF65-F5344CB8AC3E}">
        <p14:creationId xmlns:p14="http://schemas.microsoft.com/office/powerpoint/2010/main" val="7696005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9A8D9-8F72-4C22-9B49-B94C68FA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코어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50F28-AC99-427A-A4FA-38615ECE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55154-6E21-42E0-B881-023D315D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호출 선택  →  승차  →  운전·응대  →  하차·운임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E415A-2872-43D7-A9C4-6E90FB54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다음 운송 또는 생활시설  →  하루 정산  →  다음 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D1D68-2313-465D-9535-065F6CB3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운행 중 선택: 빠른 길 / 짧은 길 · 요청 수락 / 안전한 보류</a:t>
            </a:r>
          </a:p>
          <a:p xmlns:a="http://schemas.openxmlformats.org/drawingml/2006/main">
            <a:pPr>
              <a:def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운행 후 선택: 다시 영업 / 주유·식사·수면·세차 / 마감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AC797-9F4B-4928-87B1-5AB137F9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현재 캠페인: 3일 × 예정 20분. 20분 도달 시 즉시 정산되지 않으며 초과 영업과 피로가 연결됨</a:t>
            </a:r>
          </a:p>
        </p:txBody>
      </p:sp>
    </p:spTree>
    <p:extLst>
      <p:ext uri="{BB962C8B-B14F-4D97-AF65-F5344CB8AC3E}">
        <p14:creationId xmlns:p14="http://schemas.microsoft.com/office/powerpoint/2010/main" val="745277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188CA-EA34-45A2-8B50-AFC52DA3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조작과 플레이 시점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33286-599C-4F8A-B278-61AFC440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FC3AA-76AB-4A6C-9A78-486D9A4C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직접 운전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06402-D433-4812-BCF0-B67961C5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W/S 또는 ↑/↓: 전진·후진 입력, A/D 또는 ←/→: 조향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Space: 제동 · Q/E: 방향지시등 · C: 1/3인칭 전환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3BA89-C3C6-4740-93C1-DBDD4C1B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보조와 상호작용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7D632-2DFF-41EE-AFF2-18C9DB2E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H: 조향 보조 · F: 승차·경유·하차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보조 중에도 가감속·정지·양보는 플레이어가 수행.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6C73D-941C-47D9-8143-5C1F5C1D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지도와 기록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A5303-8882-4A7B-A953-28914334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M: 전체지도·호출 · F7: 정차 시설 메뉴 · F8: 상세 기록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키보드/패드 입력 구현. 실물 패드 검증은 별도 필요.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A641C-B4E4-4806-93D9-7AFF1DC7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첨부 이미지의 터치 페달은 아트 참고 요소이며, 모바일 개발은 이번 착수 범위에 포함하지 않음</a:t>
            </a:r>
          </a:p>
        </p:txBody>
      </p:sp>
    </p:spTree>
    <p:extLst>
      <p:ext uri="{BB962C8B-B14F-4D97-AF65-F5344CB8AC3E}">
        <p14:creationId xmlns:p14="http://schemas.microsoft.com/office/powerpoint/2010/main" val="12860561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9B45C-F82C-400E-AF3A-ED7D8E26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주요 시스템: 운송과 교통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5F3B6-3CB6-4D2A-B763-93C6F9E8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CA3D2-172C-41B6-B187-2A7D4AAA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호출·수요·공차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D7A06-76AD-4E16-9E12-8D522A6F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출발·도착·예상 운임을 비교하고 호출을 수락.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지역 상대 수요와 공차/탑승 성과로 영업 위치를 판단.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DACA4-35D0-4768-845A-CF0C4949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요청과 만족도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41ACD-72CD-4C7B-A83D-8EA9574D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요청 콘텐츠 17종, 운송당 0~2건 무작위 배정.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주행 결과와 응대 이행을 반영해 실제 운임을 정산.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6475A-F0BF-43F0-9ABB-82964E0A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도로와 상황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A8322-B236-46AE-9556-B6D0BB7B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신호·보행자·회전 조건, 정체·우회, 승하차 공간 점유.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점유 시 현재는 대기만 지원하며 대체 장소 이동은 미구현.</a:t>
            </a:r>
          </a:p>
        </p:txBody>
      </p:sp>
    </p:spTree>
    <p:extLst>
      <p:ext uri="{BB962C8B-B14F-4D97-AF65-F5344CB8AC3E}">
        <p14:creationId xmlns:p14="http://schemas.microsoft.com/office/powerpoint/2010/main" val="1125597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FAE12-B37D-4A0F-9392-3455B10E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주요 시스템: 생활과 하루 운영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4C0C9-2DF8-4E53-B0A7-C783A6CF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1FE21-B7F7-48E2-A94D-F333CD63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차량 관리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C3374-4578-46B6-9B35-425F9727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연료 부족 전 주유하고 청결 저하·취객 사건 뒤 세차.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관리 비용과 이동 시간이 다음 운송 기회에 영향을 준다.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801E8-4328-4082-B385-851E54C5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운전자 관리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00EA0-8165-4C9A-8BF8-47C56A2E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식사로 포만감, 수면으로 피로를 관리.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졸음을 무시하면 조작 제한과 당일 강제 마감으로 이어진다.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6633E-1EE5-4C00-A48A-91EBBE4B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회계와 회고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9C92B-20FD-4AA4-AFB0-DD9C5844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수입·비용·미납·순수익, 실제 영업시간을 비교.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고정 수익 달성형 성공/실패 없이 3일의 선택을 돌아본다.</a:t>
            </a:r>
          </a:p>
        </p:txBody>
      </p:sp>
    </p:spTree>
    <p:extLst>
      <p:ext uri="{BB962C8B-B14F-4D97-AF65-F5344CB8AC3E}">
        <p14:creationId xmlns:p14="http://schemas.microsoft.com/office/powerpoint/2010/main" val="14249385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53BB1-9E80-4B65-A372-4E62B288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콘텐츠 라인업과 개발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4BFA2-0A3D-4A81-8B27-6FE137AD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967B5-F75D-4408-A418-5FC0F8C65E44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4286250"/>
                <a:gridCol w="4638675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프로토타입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착수 후 방향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싱글 영업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은계 기반 3일 캠페인·이어하기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초반 안내·반복 재미·경제 밸런스 검증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승객 콘텐츠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 정차 후보·17종 요청·취객 사건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요청의 표현과 결과 피드백 강화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상황·연습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9코스·우회전/출구 정체 연습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장면 난도·판정 설명 개선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성장 경험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운전 숙련·일별 운영 성과 비교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장기 성장 필요성을 이용자에게 검증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 제외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PvP·협동·차량 구매·사고 수리 미구현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승인 범위에서도 제외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132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C37A5-57C8-42F3-8E50-0C3DD1F9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세계관과 주요 인물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CBF5D-C602-4551-A03A-B5D089D2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0CADB-6E66-4654-9DC1-55ADC7B6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직장을 잃은 주인공이 개인택시 운전을 시작한다.</a:t>
            </a:r>
          </a:p>
          <a:p xmlns:a="http://schemas.openxmlformats.org/drawingml/2006/main">
            <a:pPr>
              <a:def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익숙한 동네에서 만나는 손님들과 하루하루 생계를 이어간다.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DFF48-D921-4A31-976F-6BEB6593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4E3B3-7914-4E27-9DD2-0D391FDC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BEF99-80A7-4F2B-85AA-42821389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주인공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8E5AA-489C-4617-A75F-23536343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생계와 안전 사이에서 오늘의 영업을 결정하는 기사.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외형·이름·세부 경력은 향후 캐릭터 기획 대상.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9AD01-15DC-4C14-8E70-AB6B96CD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승객과 공간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627F5-FBAA-4E95-9F65-B42E2114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33875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면접을 앞둔 손님, 조용히 가고 싶은 손님, 취객 등 일상 인물.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시흥 은계 기반 주거지·상가·교차로·주유소·식당·휴식 거점.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F027D-B3D5-4B30-BF25-654CEE57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현대 한국의 생활권. 현재는 시스템 중심 상황 서사이며 장편 스토리 모드는 제공하지 않음</a:t>
            </a:r>
          </a:p>
        </p:txBody>
      </p:sp>
    </p:spTree>
    <p:extLst>
      <p:ext uri="{BB962C8B-B14F-4D97-AF65-F5344CB8AC3E}">
        <p14:creationId xmlns:p14="http://schemas.microsoft.com/office/powerpoint/2010/main" val="2996381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765A3-C610-450A-A0F9-C1529E87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아트 콘셉트: 밝고 친근한 한국 도시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3209D-966B-4614-8889-EF3112DF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74ED3-DD42-42F5-83B7-4BC208BD83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8024d153143e9"/>
          <a:stretch xmlns:a="http://schemas.openxmlformats.org/drawingml/2006/main"/>
        </p:blipFill>
        <p:spPr>
          <a:xfrm xmlns:a="http://schemas.openxmlformats.org/drawingml/2006/main">
            <a:off x="903288" y="1352550"/>
            <a:ext cx="6413500" cy="4810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583CD-C0C2-4565-82B5-D793DD80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채택할 방향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A3529-B102-490D-A11B-22A054F5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3429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둥근 형태의 택시와 캐릭터</a:t>
            </a:r>
          </a:p>
          <a:p xmlns:a="http://schemas.openxmlformats.org/drawingml/2006/main">
            <a: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따뜻한 햇빛·풍부한 녹지</a:t>
            </a:r>
          </a:p>
          <a:p xmlns:a="http://schemas.openxmlformats.org/drawingml/2006/main">
            <a: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한글 상점과 동네 거리</a:t>
            </a:r>
          </a:p>
          <a:p xmlns:a="http://schemas.openxmlformats.org/drawingml/2006/main">
            <a:pPr>
              <a:def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선명한 길안내와 표정 피드백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78AD8-A44C-4F32-8600-7BEFCE5A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10125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개발 목표 이미지</a:t>
            </a:r>
          </a:p>
          <a:p xmlns:a="http://schemas.openxmlformats.org/drawingml/2006/main">
            <a: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현재 빌드와 시각 품질 차이 존재</a:t>
            </a:r>
          </a:p>
          <a:p xmlns:a="http://schemas.openxmlformats.org/drawingml/2006/main">
            <a:pPr>
              <a:def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서울 랜드마크 도입은 미확정</a:t>
            </a:r>
          </a:p>
        </p:txBody>
      </p:sp>
    </p:spTree>
    <p:extLst>
      <p:ext uri="{BB962C8B-B14F-4D97-AF65-F5344CB8AC3E}">
        <p14:creationId xmlns:p14="http://schemas.microsoft.com/office/powerpoint/2010/main" val="14480446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D5B30-9DCF-4989-80E5-9662242F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현재 프로토타입과 아트 제작 과제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B70DE-BF2E-4FF0-892E-707D5CAF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0AA60-A46A-4343-B5B7-86272D1C81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170da9b984561"/>
          <a:stretch xmlns:a="http://schemas.openxmlformats.org/drawingml/2006/main"/>
        </p:blipFill>
        <p:spPr>
          <a:xfrm xmlns:a="http://schemas.openxmlformats.org/drawingml/2006/main">
            <a:off x="611717" y="1476375"/>
            <a:ext cx="7806267" cy="43910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01CF1-7705-4C95-855F-3B90834E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716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현재 확보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EC840-5034-4EBA-8D10-CAFCEBD5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43125"/>
            <a:ext cx="2762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실제 도로 연결</a:t>
            </a:r>
          </a:p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교통·신호·내비</a:t>
            </a:r>
          </a:p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영업 HUD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B7D63-E0C5-4869-ABB1-D91F5DBE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추가 제작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3A514-8F91-4611-AD0A-14F62387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81500"/>
            <a:ext cx="2762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환경·차량·인물 아트</a:t>
            </a:r>
          </a:p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조명·애니메이션</a:t>
            </a:r>
          </a:p>
          <a:p xmlns:a="http://schemas.openxmlformats.org/drawingml/2006/main">
            <a:pPr>
              <a:def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UI 정리와 최적화</a:t>
            </a:r>
          </a:p>
        </p:txBody>
      </p:sp>
    </p:spTree>
    <p:extLst>
      <p:ext uri="{BB962C8B-B14F-4D97-AF65-F5344CB8AC3E}">
        <p14:creationId xmlns:p14="http://schemas.microsoft.com/office/powerpoint/2010/main" val="4691767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9308A5-4B66-4540-B275-4A7C0191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UI/UX 방향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D768C-C40C-4D43-A2BF-A0CC40E9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4E8A7-D7FF-4B79-BC51-3155392D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운전 중에는 도로 우선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00536-0A94-4A8B-A744-0E0B52E3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속도·다음 회전·주요 위험만 빠르게 읽는다.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상태 게이지는 구분하고 요청 응답은 안전 정차에서 제공.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395DA-5024-4DED-AC54-16223D9F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탐색과 결정을 분리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E54A1-1F36-4A33-84F5-D8A4BF21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지도에서 호출·경로·시설을 비교한 뒤 명시적으로 확정.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주행 화면에 긴 계산식과 여러 팝업을 동시에 노출하지 않는다.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35302-72F0-4FD9-91C1-E0D77E76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결과는 이유까지 표시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D0D39-2605-46FF-8CFA-4EB50CBC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하차 직후 예상 운임·조정·실수령을 짧게 보여 준다.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왜 감점·변동했는지는 상세 기록에서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3061672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D1B01-4068-472A-B886-0B54C96C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경쟁작과 벤치마킹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4EB24-F3C2-4720-884C-C478CD5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86EFA-B600-4476-A66B-D07FC50BB08E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476750"/>
                <a:gridCol w="3924300"/>
              </a:tblGrid>
              <a:tr h="904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레퍼런스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강점 / 본 제안과의 거리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벤치마킹 포인트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Taxi Life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도시 택시 운송·회사 운영</a:t>
                      </a:r>
                    </a:p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 생활권 특화와는 다른 배경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호출→운행→결과의 명료성</a:t>
                      </a:r>
                    </a:p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도시 속 운전자 역할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Crazy Taxi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즉각적인 아케이드 운송 재미</a:t>
                      </a:r>
                    </a:p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안전·생활 운영 목표와는 거리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짧은 운행의 동기와 피드백</a:t>
                      </a:r>
                    </a:p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※ 판매 중단된 역사적 레퍼런스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Euro Truck Simulator 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장거리 운송과 사업 운영의 반복</a:t>
                      </a:r>
                    </a:p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짧은 동네 승객 응대와 다른 호흡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안정적인 운전 감각</a:t>
                      </a:r>
                    </a:p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운송 후 수익·성장 피드백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25C11-DF6E-4A51-9024-19B33BFF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공식 제품 설명 기반 기획적 비교. 경쟁작 기능 부재·시장점유율·판매량을 주장하는 자료가 아님</a:t>
            </a:r>
          </a:p>
        </p:txBody>
      </p:sp>
    </p:spTree>
    <p:extLst>
      <p:ext uri="{BB962C8B-B14F-4D97-AF65-F5344CB8AC3E}">
        <p14:creationId xmlns:p14="http://schemas.microsoft.com/office/powerpoint/2010/main" val="15325521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03106-E382-40C0-9B2D-71A573EE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시장 진입 가설과 사업 모델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1B336-DB68-4EA3-82BA-7AF8CD1F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026FB-7B64-42C6-8C37-7C06657E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고객 가설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2015A-E4C7-4CA9-A6AC-1616BE22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PC 운전·생활 시뮬레이션 이용자 중, 한국 동네의 일상과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짧은 영업 단위에 흥미를 느끼는 층을 우선 검증한다.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CD90E-B468-4933-A66D-1593D560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수익 모델 제안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15E27-D4D1-469A-B2BC-913D5F12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PC 유료 패키지 우선. 데모 반응과 제작비를 보고 가격 결정.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지역·시나리오 확장은 본편 반복 재미 확인 후 검토한다.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D4A3C-DCE2-4678-A8EF-23D773BA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유입 전략 제안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A469A-1640-485D-B340-FDE73E54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짧은 운행 영상과 체험 데모 → 타겟 플레이테스트 →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커뮤니티 피드백·위시리스트 전환 측정으로 수요 확인.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6FB15-E77A-45C0-9481-95376F3F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시장 규모·판매량·매출 목표는 근거 확보 전 미기재. 매출 전망은 가격·비용·전환 실측 후 산정</a:t>
            </a:r>
          </a:p>
        </p:txBody>
      </p:sp>
    </p:spTree>
    <p:extLst>
      <p:ext uri="{BB962C8B-B14F-4D97-AF65-F5344CB8AC3E}">
        <p14:creationId xmlns:p14="http://schemas.microsoft.com/office/powerpoint/2010/main" val="14682070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E1B9F-64B1-4B61-97F5-515C3960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8주 검증 개발과 착수 판단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7E4E9-8B8E-4CFE-B647-E85F423B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6D3C4-0EDC-44BA-BBE4-7C4EA4BFF262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095750"/>
                <a:gridCol w="3829050"/>
              </a:tblGrid>
              <a:tr h="723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질문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설계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본개발 진입 목표안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처음부터 운전 가능한가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타겟 20명 이상, 첫 운송 관찰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도움 없이 첫 운송 완료 ≥80%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번 더 하고 싶은가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20분 플레이 후 재플레이 의향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5점 척도 4~5점 응답 ≥70%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결과가 바뀌는지 아는가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운임·상태 변화 이유 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원인 설명 성공 ≥80%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반복해도 안정적인가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3일 완주·저장 복원 테스트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 불가·저장 손상 중대 결함 0건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5C2EC-FA93-4287-BADF-92D270B9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운전·경제·안정성 모두 확인 후 본개발 심의. 목표 미달 시 원인별 개선 후 재검증 또는 범위 축소</a:t>
            </a:r>
          </a:p>
        </p:txBody>
      </p:sp>
    </p:spTree>
    <p:extLst>
      <p:ext uri="{BB962C8B-B14F-4D97-AF65-F5344CB8AC3E}">
        <p14:creationId xmlns:p14="http://schemas.microsoft.com/office/powerpoint/2010/main" val="16749238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E8925-BA79-4F30-9D4E-9EB2377C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개발 로드맵 — 착수 승인 후 12개월 가정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58A3E-3461-4BCF-AE1C-EFDC55C4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26F52-9B7C-49C7-8793-17F13F1D89A4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571750"/>
                <a:gridCol w="5353050"/>
              </a:tblGrid>
              <a:tr h="723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일정 가정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 / 다음 단계 조건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프로토타입 고도화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M1~M2 · 8주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운송·생활 루프·아트 장면 / 이용자 검증 통과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M3~M6 · 4개월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지역 핵심 콘텐츠·UI·아트 연결 / 전체 진행 가능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베타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M7~M9 · 3개월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경제·조작감·호환성·성능 / 주요 결함 해소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출시 준비·정식 출시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M10~M12 · 3개월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QA·현지화·스토어·운영 준비 / 출시 심의 통과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6E0A5-768E-41C7-9566-DF199D1A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PC 출시 우선. 글로벌 동시 출시는 현지화·등급·지원 범위 확정 후 결정. 지역 확대는 일정에 미포함</a:t>
            </a:r>
          </a:p>
        </p:txBody>
      </p:sp>
    </p:spTree>
    <p:extLst>
      <p:ext uri="{BB962C8B-B14F-4D97-AF65-F5344CB8AC3E}">
        <p14:creationId xmlns:p14="http://schemas.microsoft.com/office/powerpoint/2010/main" val="12887910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05538-729E-45A2-8D7D-33452ACD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개발 조직과 비용 산정 방식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AD64D-BD04-4B55-B817-B2532E70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9F64C-B8F4-40A6-B48D-74DB0AF790BA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000250"/>
                <a:gridCol w="5829300"/>
              </a:tblGrid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인원안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책임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기획 / PM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범위·경제·승객 콘텐츠·검증 운영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프로그래밍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운전·교통 / 영업·UI·저장·도구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 1 / 차량·캐릭터 1 / UI·TA 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QA·사운드·사업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또는 외주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호환성·음향·스토어·현지화 지원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44B20-4EAD-4B9B-ACC6-7FB21F3C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8주: 핵심 6명 × 2개월 ≈ 12인월</a:t>
            </a:r>
          </a:p>
          <a:p xmlns:a="http://schemas.openxmlformats.org/drawingml/2006/main">
            <a:pPr>
              <a:def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12개월: 핵심 6명 유지 시 72인월 + 공유·외주 비용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9216B-1304-4D72-9F89-1A2224C5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승인 예산 = 직무별 투입 인월 × 회사 표준 단가 + 외주·장비·유통비 + 회사 기준 예비비</a:t>
            </a:r>
          </a:p>
        </p:txBody>
      </p:sp>
    </p:spTree>
    <p:extLst>
      <p:ext uri="{BB962C8B-B14F-4D97-AF65-F5344CB8AC3E}">
        <p14:creationId xmlns:p14="http://schemas.microsoft.com/office/powerpoint/2010/main" val="20032111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D0798-208E-4292-AAC4-5E676AA5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주요 리스크와 대응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59784-A946-4F87-AC2D-2644E006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C3A19-E6BF-4AB0-BCB9-8697096CB583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5429250"/>
                <a:gridCol w="2209800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리스크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대응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 시점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시뮬레이션이 피로해질 가능성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주행·생활 부담을 분리 관찰, 빈도·비용 조정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8주 이용자 테스트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콘셉트와 현 빌드의 품질 격차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거리·택시·승객 한 세트로 제작비 검증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알파 착수 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도로·교통·판정의 복잡성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은계 한 지역 우선, 대표 상황 회귀검사 유지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프로토타입~베타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시장 반응·사업성 미확인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데모 반응 및 전환 측정 후 가격·판매 목표 산정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본개발/출시 심의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배포·자료 이용 조건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지도·아트·폰트·음원 출처와 이용 조건 점검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데모 공개 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65506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5109D-906F-4B19-86FF-D7503FE2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제안 참여 인원 및 기여 역할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347AE-2B9A-4EC3-96D2-AC7BA52D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FD46D-4FE0-49A4-B353-23462E08FD57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333750"/>
                <a:gridCol w="421005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참여 구분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 / 인원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단계 기여 확인 항목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T w="9525">
                      <a:solidFill>
                        <a:srgbClr val="D8E2E6"/>
                      </a:solidFill>
                    </a:lnT>
                    <a:lnB w="9525">
                      <a:solidFill>
                        <a:srgbClr val="D8E2E6"/>
                      </a:solidFill>
                    </a:lnB>
                    <a:solidFill>
                      <a:srgbClr val="142D4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책임 / 기획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 제출 전 확인 필요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하이 콘셉트·범위·게임 규칙·승인 요청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프로그래밍 / 기술 검토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 제출 전 확인 필요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프로토타입·기술 가능성·일정 추정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아트 / UI 방향 검토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 제출 전 확인 필요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콘셉트·대표 장면·제작 공수 검토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 / QA 검토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6"/>
                      </a:solidFill>
                    </a:lnL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 제출 전 확인 필요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타겟·BM·비용·검증 설계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6"/>
                      </a:solidFill>
                    </a:lnR>
                    <a:lnB w="9525">
                      <a:solidFill>
                        <a:srgbClr val="D8E2E6"/>
                      </a:solidFill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0E1E7-4966-48A5-85AD-6341682D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실제 제안 참여 인원과 향후 필요 개발 인력 6명은 별개. 총 참여 인원도 회사 제출 전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079550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7CE4B-2449-48F7-934C-D8B3B5A9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프로토타입 구현 범위와 검증 상태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03B9B-8FDD-4A75-9465-15460D20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D3107-444F-416A-A7FA-81E625A4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구현 확인 범위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A4E9D-A3EA-49EA-B2DE-1426EA83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049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은계 1,888차로·일반 교통 48대·24 정차 후보·17 요청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생활시설·피로/졸음·3일 영업·저장/복원·별도 연습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030F7-1484-410C-A242-8DF3A143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기존 자동 검사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5B838-BC69-46AE-95DA-354655C3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최신 이력에 모델 28·그래프 2,549·Editor 및 Player 검사,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BuildHybrid와 배포 manifest 검증 통과가 기록됨.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97239-6C1B-4934-891E-A8D9CF41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출시 판단 전 미검증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884AA-1807-4C26-83B2-122C3DB3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사람의 전체 20분/3일 경제 체감·장시간 성능·실물 패드.</a:t>
            </a:r>
          </a:p>
          <a:p xmlns:a="http://schemas.openxmlformats.org/drawingml/2006/main">
            <a:pPr>
              <a:def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위치 제어 검사와 자동 물리 주행은 수동 플레이를 대체하지 않음.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395E0-3E1B-4FC9-9042-00381650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실행: builds/EungyeTaxi/EungyeTaxi.exe / 별도 배포 폴더 전체 필요 / 본 PPT에는 실행 파일 미포함</a:t>
            </a:r>
          </a:p>
        </p:txBody>
      </p:sp>
    </p:spTree>
    <p:extLst>
      <p:ext uri="{BB962C8B-B14F-4D97-AF65-F5344CB8AC3E}">
        <p14:creationId xmlns:p14="http://schemas.microsoft.com/office/powerpoint/2010/main" val="2477256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9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1D51C-1182-48F2-8A11-E3F5D605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시연 순서와 조작 요약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8A588-A10A-4AE9-B2A6-444F23E9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23599-91BC-484A-AF60-1213F87A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7CB2"/>
                </a:solidFill>
                <a:latin typeface="Malgun Gothic"/>
                <a:ea typeface="Malgun Gothic"/>
                <a:cs typeface="Malgun Gothic"/>
              </a:rPr>
              <a:t>① 시작·호출 비교  →  ② 승차·운행  →  ③ 요청 대응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011D5-5D2E-4294-BFAB-86F1ED98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④ 하차·운임 확인  →  ⑤ 시설 관리  →  ⑥ 마감·회고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0C0F6-1038-46B3-B514-E728059C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WASD / 방향키: 운전     Space: 제동     C: 시점</a:t>
            </a:r>
          </a:p>
          <a:p xmlns:a="http://schemas.openxmlformats.org/drawingml/2006/main">
            <a: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M: 지도·호출     F: 승하차     F7: 시설     F8: 기록</a:t>
            </a:r>
          </a:p>
          <a:p xmlns:a="http://schemas.openxmlformats.org/drawingml/2006/main">
            <a:pPr>
              <a:def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3247"/>
                </a:solidFill>
                <a:latin typeface="Malgun Gothic"/>
                <a:ea typeface="Malgun Gothic"/>
                <a:cs typeface="Malgun Gothic"/>
              </a:rPr>
              <a:t>Esc: 일시정지     H: 조향 보조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7A04D-59B8-4A05-8E93-7E006A15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A7B"/>
                </a:solidFill>
                <a:latin typeface="Malgun Gothic"/>
                <a:ea typeface="Malgun Gothic"/>
                <a:cs typeface="Malgun Gothic"/>
              </a:rPr>
              <a:t>정차 후 상호작용. 별도 Manual 문서에 실행 준비·실수하기 쉬운 조건·전체 조작을 수록</a:t>
            </a:r>
          </a:p>
        </p:txBody>
      </p:sp>
    </p:spTree>
    <p:extLst>
      <p:ext uri="{BB962C8B-B14F-4D97-AF65-F5344CB8AC3E}">
        <p14:creationId xmlns:p14="http://schemas.microsoft.com/office/powerpoint/2010/main" val="66218093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42D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45E1C-023A-44DB-863D-C50A4CA8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의사결정 요청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7B63A-778A-47C0-810B-4296A0D2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DD0DD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FBF88-E3C1-467F-85B2-9D61755C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BD32"/>
                </a:solidFill>
                <a:latin typeface="Malgun Gothic"/>
                <a:ea typeface="Malgun Gothic"/>
                <a:cs typeface="Malgun Gothic"/>
              </a:rPr>
              <a:t>8주 동안 검증할 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23355-D886-4822-BD18-2ECDBD8D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953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운전이 재미있는가</a:t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생활 관리가 반복 플레이를 만드는가</a:t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목표 아트를 감당 가능한 공수로 제작할 수 있는가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649A7-ABA6-4663-9D05-8F4C3C84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rPr>
              <a:t>요청: 책임자 지정 · 핵심 인력 6명 배정 · 8주 예산 한도 승인</a:t>
            </a:r>
          </a:p>
          <a:p xmlns:a="http://schemas.openxmlformats.org/drawingml/2006/main">
            <a:pPr>
              <a:def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D1E2ED"/>
                </a:solidFill>
                <a:latin typeface="Malgun Gothic"/>
                <a:ea typeface="Malgun Gothic"/>
                <a:cs typeface="Malgun Gothic"/>
              </a:rPr>
              <a:t>결과: 이용자 테스트와 대표 빌드로 본개발 투자 여부 재심의</a:t>
            </a:r>
          </a:p>
        </p:txBody>
      </p:sp>
    </p:spTree>
    <p:extLst>
      <p:ext uri="{BB962C8B-B14F-4D97-AF65-F5344CB8AC3E}">
        <p14:creationId xmlns:p14="http://schemas.microsoft.com/office/powerpoint/2010/main" val="1378731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2026-10-27T09:25:17.1110000Z</dcterms:created>
  <dcterms:modified xsi:type="dcterms:W3CDTF">2026-10-27T09:25:17.1110000Z</dcterms:modified>
</coreProperties>
</file>